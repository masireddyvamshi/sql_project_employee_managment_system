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55.jpg" ContentType="image/jpeg"/>
  <Override PartName="/ppt/media/image56.jpg" ContentType="image/jpeg"/>
  <Override PartName="/ppt/notesSlides/notesSlide9.xml" ContentType="application/vnd.openxmlformats-officedocument.presentationml.notesSlide+xml"/>
  <Override PartName="/ppt/media/image57.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65" r:id="rId5"/>
    <p:sldId id="260" r:id="rId6"/>
    <p:sldId id="261" r:id="rId7"/>
    <p:sldId id="262" r:id="rId8"/>
    <p:sldId id="263" r:id="rId9"/>
    <p:sldId id="291"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83" r:id="rId23"/>
    <p:sldId id="277" r:id="rId24"/>
    <p:sldId id="282" r:id="rId25"/>
    <p:sldId id="281" r:id="rId26"/>
    <p:sldId id="285" r:id="rId27"/>
    <p:sldId id="284" r:id="rId28"/>
    <p:sldId id="279" r:id="rId29"/>
    <p:sldId id="278" r:id="rId30"/>
    <p:sldId id="286" r:id="rId31"/>
    <p:sldId id="287" r:id="rId32"/>
    <p:sldId id="288" r:id="rId33"/>
    <p:sldId id="289" r:id="rId34"/>
    <p:sldId id="290" r:id="rId35"/>
    <p:sldId id="259" r:id="rId3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F2F2F2"/>
    <a:srgbClr val="FFFFFF"/>
    <a:srgbClr val="6FA8DC"/>
    <a:srgbClr val="1C4587"/>
    <a:srgbClr val="3D85C6"/>
    <a:srgbClr val="4A2C1A"/>
    <a:srgbClr val="E5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985" autoAdjust="0"/>
  </p:normalViewPr>
  <p:slideViewPr>
    <p:cSldViewPr>
      <p:cViewPr>
        <p:scale>
          <a:sx n="75" d="100"/>
          <a:sy n="75" d="100"/>
        </p:scale>
        <p:origin x="642" y="69"/>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5292135-F496-43C9-8D21-ACFEB456C2F8}" type="datetimeFigureOut">
              <a:rPr lang="en-IN" smtClean="0"/>
              <a:t>19-12-2025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E4080714-3517-4855-84B1-3DCDE2D6FDF3}" type="slidenum">
              <a:rPr lang="en-IN" smtClean="0"/>
              <a:t>‹#›</a:t>
            </a:fld>
            <a:endParaRPr lang="en-IN"/>
          </a:p>
        </p:txBody>
      </p:sp>
    </p:spTree>
    <p:extLst>
      <p:ext uri="{BB962C8B-B14F-4D97-AF65-F5344CB8AC3E}">
        <p14:creationId xmlns:p14="http://schemas.microsoft.com/office/powerpoint/2010/main" val="3749919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2</a:t>
            </a:fld>
            <a:endParaRPr lang="en-IN"/>
          </a:p>
        </p:txBody>
      </p:sp>
    </p:spTree>
    <p:extLst>
      <p:ext uri="{BB962C8B-B14F-4D97-AF65-F5344CB8AC3E}">
        <p14:creationId xmlns:p14="http://schemas.microsoft.com/office/powerpoint/2010/main" val="2964010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12</a:t>
            </a:fld>
            <a:endParaRPr lang="en-IN"/>
          </a:p>
        </p:txBody>
      </p:sp>
    </p:spTree>
    <p:extLst>
      <p:ext uri="{BB962C8B-B14F-4D97-AF65-F5344CB8AC3E}">
        <p14:creationId xmlns:p14="http://schemas.microsoft.com/office/powerpoint/2010/main" val="941626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17</a:t>
            </a:fld>
            <a:endParaRPr lang="en-IN"/>
          </a:p>
        </p:txBody>
      </p:sp>
    </p:spTree>
    <p:extLst>
      <p:ext uri="{BB962C8B-B14F-4D97-AF65-F5344CB8AC3E}">
        <p14:creationId xmlns:p14="http://schemas.microsoft.com/office/powerpoint/2010/main" val="882182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18</a:t>
            </a:fld>
            <a:endParaRPr lang="en-IN"/>
          </a:p>
        </p:txBody>
      </p:sp>
    </p:spTree>
    <p:extLst>
      <p:ext uri="{BB962C8B-B14F-4D97-AF65-F5344CB8AC3E}">
        <p14:creationId xmlns:p14="http://schemas.microsoft.com/office/powerpoint/2010/main" val="252658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23</a:t>
            </a:fld>
            <a:endParaRPr lang="en-IN"/>
          </a:p>
        </p:txBody>
      </p:sp>
    </p:spTree>
    <p:extLst>
      <p:ext uri="{BB962C8B-B14F-4D97-AF65-F5344CB8AC3E}">
        <p14:creationId xmlns:p14="http://schemas.microsoft.com/office/powerpoint/2010/main" val="1621799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24</a:t>
            </a:fld>
            <a:endParaRPr lang="en-IN"/>
          </a:p>
        </p:txBody>
      </p:sp>
    </p:spTree>
    <p:extLst>
      <p:ext uri="{BB962C8B-B14F-4D97-AF65-F5344CB8AC3E}">
        <p14:creationId xmlns:p14="http://schemas.microsoft.com/office/powerpoint/2010/main" val="30554068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26</a:t>
            </a:fld>
            <a:endParaRPr lang="en-IN"/>
          </a:p>
        </p:txBody>
      </p:sp>
    </p:spTree>
    <p:extLst>
      <p:ext uri="{BB962C8B-B14F-4D97-AF65-F5344CB8AC3E}">
        <p14:creationId xmlns:p14="http://schemas.microsoft.com/office/powerpoint/2010/main" val="2732631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32</a:t>
            </a:fld>
            <a:endParaRPr lang="en-IN"/>
          </a:p>
        </p:txBody>
      </p:sp>
    </p:spTree>
    <p:extLst>
      <p:ext uri="{BB962C8B-B14F-4D97-AF65-F5344CB8AC3E}">
        <p14:creationId xmlns:p14="http://schemas.microsoft.com/office/powerpoint/2010/main" val="4279895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4080714-3517-4855-84B1-3DCDE2D6FDF3}" type="slidenum">
              <a:rPr lang="en-IN" smtClean="0"/>
              <a:t>34</a:t>
            </a:fld>
            <a:endParaRPr lang="en-IN"/>
          </a:p>
        </p:txBody>
      </p:sp>
    </p:spTree>
    <p:extLst>
      <p:ext uri="{BB962C8B-B14F-4D97-AF65-F5344CB8AC3E}">
        <p14:creationId xmlns:p14="http://schemas.microsoft.com/office/powerpoint/2010/main" val="2799183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1" i="0">
                <a:solidFill>
                  <a:srgbClr val="FF0000"/>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F00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1" i="0">
                <a:solidFill>
                  <a:srgbClr val="FF0000"/>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14232" y="6184984"/>
            <a:ext cx="3225396" cy="609523"/>
          </a:xfrm>
          <a:prstGeom prst="rect">
            <a:avLst/>
          </a:prstGeom>
        </p:spPr>
      </p:pic>
      <p:pic>
        <p:nvPicPr>
          <p:cNvPr id="17" name="bg object 17"/>
          <p:cNvPicPr/>
          <p:nvPr/>
        </p:nvPicPr>
        <p:blipFill>
          <a:blip r:embed="rId3" cstate="print"/>
          <a:stretch>
            <a:fillRect/>
          </a:stretch>
        </p:blipFill>
        <p:spPr>
          <a:xfrm>
            <a:off x="6466516" y="1850749"/>
            <a:ext cx="4465643" cy="2834316"/>
          </a:xfrm>
          <a:prstGeom prst="rect">
            <a:avLst/>
          </a:prstGeom>
        </p:spPr>
      </p:pic>
      <p:sp>
        <p:nvSpPr>
          <p:cNvPr id="2" name="Holder 2"/>
          <p:cNvSpPr>
            <a:spLocks noGrp="1"/>
          </p:cNvSpPr>
          <p:nvPr>
            <p:ph type="title"/>
          </p:nvPr>
        </p:nvSpPr>
        <p:spPr/>
        <p:txBody>
          <a:bodyPr lIns="0" tIns="0" rIns="0" bIns="0"/>
          <a:lstStyle>
            <a:lvl1pPr>
              <a:defRPr sz="4400" b="1"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14232" y="6184984"/>
            <a:ext cx="3225396" cy="609523"/>
          </a:xfrm>
          <a:prstGeom prst="rect">
            <a:avLst/>
          </a:prstGeom>
        </p:spPr>
      </p:pic>
      <p:pic>
        <p:nvPicPr>
          <p:cNvPr id="17" name="bg object 17"/>
          <p:cNvPicPr/>
          <p:nvPr/>
        </p:nvPicPr>
        <p:blipFill>
          <a:blip r:embed="rId3" cstate="print"/>
          <a:stretch>
            <a:fillRect/>
          </a:stretch>
        </p:blipFill>
        <p:spPr>
          <a:xfrm>
            <a:off x="592" y="0"/>
            <a:ext cx="12190814" cy="6694097"/>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12/19/2025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814232" y="6184984"/>
            <a:ext cx="3225396" cy="609523"/>
          </a:xfrm>
          <a:prstGeom prst="rect">
            <a:avLst/>
          </a:prstGeom>
        </p:spPr>
      </p:pic>
      <p:sp>
        <p:nvSpPr>
          <p:cNvPr id="2" name="Holder 2"/>
          <p:cNvSpPr>
            <a:spLocks noGrp="1"/>
          </p:cNvSpPr>
          <p:nvPr>
            <p:ph type="title"/>
          </p:nvPr>
        </p:nvSpPr>
        <p:spPr>
          <a:xfrm>
            <a:off x="281497" y="290587"/>
            <a:ext cx="8630920" cy="695960"/>
          </a:xfrm>
          <a:prstGeom prst="rect">
            <a:avLst/>
          </a:prstGeom>
        </p:spPr>
        <p:txBody>
          <a:bodyPr wrap="square" lIns="0" tIns="0" rIns="0" bIns="0">
            <a:spAutoFit/>
          </a:bodyPr>
          <a:lstStyle>
            <a:lvl1pPr>
              <a:defRPr sz="4400" b="1" i="0">
                <a:solidFill>
                  <a:srgbClr val="FF0000"/>
                </a:solidFill>
                <a:latin typeface="Calibri"/>
                <a:cs typeface="Calibri"/>
              </a:defRPr>
            </a:lvl1pPr>
          </a:lstStyle>
          <a:p>
            <a:endParaRPr/>
          </a:p>
        </p:txBody>
      </p:sp>
      <p:sp>
        <p:nvSpPr>
          <p:cNvPr id="3" name="Holder 3"/>
          <p:cNvSpPr>
            <a:spLocks noGrp="1"/>
          </p:cNvSpPr>
          <p:nvPr>
            <p:ph type="body" idx="1"/>
          </p:nvPr>
        </p:nvSpPr>
        <p:spPr>
          <a:xfrm>
            <a:off x="828995" y="1386657"/>
            <a:ext cx="8994140" cy="3675379"/>
          </a:xfrm>
          <a:prstGeom prst="rect">
            <a:avLst/>
          </a:prstGeom>
        </p:spPr>
        <p:txBody>
          <a:bodyPr wrap="square" lIns="0" tIns="0" rIns="0" bIns="0">
            <a:spAutoFit/>
          </a:bodyPr>
          <a:lstStyle>
            <a:lvl1pPr>
              <a:defRPr sz="2400" b="1"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12/19/2025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vamshidhar00"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github.com/Masireddyvamshi"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5.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7.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3810000"/>
            <a:ext cx="12192000" cy="1331134"/>
          </a:xfrm>
          <a:prstGeom prst="rect">
            <a:avLst/>
          </a:prstGeom>
        </p:spPr>
        <p:txBody>
          <a:bodyPr vert="horz" wrap="square" lIns="0" tIns="12700" rIns="0" bIns="0" rtlCol="0">
            <a:spAutoFit/>
          </a:bodyPr>
          <a:lstStyle/>
          <a:p>
            <a:pPr marL="12700" algn="ctr" rtl="0">
              <a:spcBef>
                <a:spcPts val="100"/>
              </a:spcBef>
            </a:pPr>
            <a:r>
              <a:rPr lang="en-IN" sz="2800" b="1" dirty="0">
                <a:latin typeface="Montserrat Semi-Bold"/>
                <a:cs typeface="Times New Roman" panose="02020603050405020304" pitchFamily="18" charset="0"/>
              </a:rPr>
              <a:t>EMPLOYEE MANAGEMENT SYSTEM</a:t>
            </a:r>
            <a:endParaRPr lang="en-IN" sz="2800" b="1" dirty="0">
              <a:effectLst/>
              <a:latin typeface="Montserrat Semi-Bold"/>
              <a:cs typeface="Times New Roman" panose="02020603050405020304" pitchFamily="18" charset="0"/>
            </a:endParaRPr>
          </a:p>
          <a:p>
            <a:pPr marL="12700" algn="ctr">
              <a:lnSpc>
                <a:spcPct val="100000"/>
              </a:lnSpc>
              <a:spcBef>
                <a:spcPts val="100"/>
              </a:spcBef>
            </a:pPr>
            <a:r>
              <a:rPr lang="en-IN" sz="2800" b="1" dirty="0">
                <a:latin typeface="Montserrat Semi-Bold"/>
                <a:cs typeface="Calibri"/>
              </a:rPr>
              <a:t>BY</a:t>
            </a:r>
          </a:p>
          <a:p>
            <a:pPr marL="12700" algn="ctr">
              <a:lnSpc>
                <a:spcPct val="100000"/>
              </a:lnSpc>
              <a:spcBef>
                <a:spcPts val="100"/>
              </a:spcBef>
            </a:pPr>
            <a:r>
              <a:rPr lang="en-IN" sz="2800" b="1" dirty="0">
                <a:solidFill>
                  <a:srgbClr val="E53935"/>
                </a:solidFill>
                <a:latin typeface="Montserrat Semi-Bold"/>
                <a:cs typeface="Calibri"/>
              </a:rPr>
              <a:t>MASIREDDY VAMSHIDHAR REDDY</a:t>
            </a:r>
          </a:p>
        </p:txBody>
      </p:sp>
    </p:spTree>
  </p:cSld>
  <p:clrMapOvr>
    <a:masterClrMapping/>
  </p:clrMapOvr>
  <mc:AlternateContent xmlns:mc="http://schemas.openxmlformats.org/markup-compatibility/2006" xmlns:p14="http://schemas.microsoft.com/office/powerpoint/2010/main">
    <mc:Choice Requires="p14">
      <p:transition spd="slow" p14:dur="2000" advTm="2770"/>
    </mc:Choice>
    <mc:Fallback xmlns="">
      <p:transition spd="slow" advTm="277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5800" y="990600"/>
            <a:ext cx="10624519" cy="5553443"/>
          </a:xfrm>
          <a:prstGeom prst="rect">
            <a:avLst/>
          </a:prstGeom>
        </p:spPr>
        <p:txBody>
          <a:bodyPr vert="horz" wrap="square" lIns="0" tIns="12700" rIns="0" bIns="0" rtlCol="0">
            <a:spAutoFit/>
          </a:bodyPr>
          <a:lstStyle/>
          <a:p>
            <a:pPr marL="285750" indent="-285750" algn="just">
              <a:lnSpc>
                <a:spcPct val="150000"/>
              </a:lnSpc>
              <a:buFont typeface="Wingdings" panose="05000000000000000000" pitchFamily="2" charset="2"/>
              <a:buChar char="Ø"/>
            </a:pPr>
            <a:r>
              <a:rPr lang="en-US" dirty="0">
                <a:latin typeface="+mj-lt"/>
              </a:rPr>
              <a:t>I am Masireddy Vamshidhar Reddy, a </a:t>
            </a:r>
            <a:r>
              <a:rPr lang="en-US" dirty="0" err="1">
                <a:latin typeface="+mj-lt"/>
              </a:rPr>
              <a:t>B.Tech</a:t>
            </a:r>
            <a:r>
              <a:rPr lang="en-US" dirty="0">
                <a:latin typeface="+mj-lt"/>
              </a:rPr>
              <a:t> (2025) graduate in Computer Science and Engineering from Bharath Institute of Higher Education and Research. I chose Data Science because I enjoy deriving meaningful insights from data, identifying patterns, and applying analytical thinking to real-world problems. The ability to analyze data, build models, and make predictions motivates me, as it enables data-driven decision-making.</a:t>
            </a:r>
          </a:p>
          <a:p>
            <a:pPr marL="285750" indent="-285750" algn="just">
              <a:lnSpc>
                <a:spcPct val="150000"/>
              </a:lnSpc>
              <a:buFont typeface="Wingdings" panose="05000000000000000000" pitchFamily="2" charset="2"/>
              <a:buChar char="Ø"/>
            </a:pPr>
            <a:r>
              <a:rPr lang="en-US" dirty="0">
                <a:latin typeface="+mj-lt"/>
              </a:rPr>
              <a:t>I have strong fundamentals and hands-on skills in Python, Pandas, NumPy, SQL, Advanced Statistics, Matplotlib, and Seaborn, with a focus on data analysis, visualization, and statistical reasoning.</a:t>
            </a:r>
          </a:p>
          <a:p>
            <a:pPr marL="285750" indent="-285750" algn="just">
              <a:lnSpc>
                <a:spcPct val="150000"/>
              </a:lnSpc>
              <a:buFont typeface="Wingdings" panose="05000000000000000000" pitchFamily="2" charset="2"/>
              <a:buChar char="Ø"/>
            </a:pPr>
            <a:r>
              <a:rPr lang="en-US" dirty="0">
                <a:latin typeface="+mj-lt"/>
              </a:rPr>
              <a:t>As a fresher, I bring a strong analytical mindset, curiosity to explore data deeply, and the discipline to convert raw data into clear, actionable insights while continuously upgrading my skills to meet industry demands.</a:t>
            </a:r>
          </a:p>
          <a:p>
            <a:pPr marL="285750" indent="-285750" algn="just">
              <a:lnSpc>
                <a:spcPct val="150000"/>
              </a:lnSpc>
              <a:spcBef>
                <a:spcPts val="100"/>
              </a:spcBef>
              <a:spcAft>
                <a:spcPts val="130"/>
              </a:spcAft>
              <a:buFont typeface="Wingdings" panose="05000000000000000000" pitchFamily="2" charset="2"/>
              <a:buChar char="Ø"/>
            </a:pPr>
            <a:r>
              <a:rPr lang="en-US" dirty="0">
                <a:latin typeface="+mj-lt"/>
              </a:rPr>
              <a:t>My goal is to grow into a Data Scientist who builds reliable analytical and predictive models, contributes to data-driven business decisions, and creates measurable impact through data.</a:t>
            </a:r>
          </a:p>
          <a:p>
            <a:pPr marL="342900" indent="-342900" algn="l">
              <a:lnSpc>
                <a:spcPct val="150000"/>
              </a:lnSpc>
              <a:spcBef>
                <a:spcPts val="100"/>
              </a:spcBef>
              <a:spcAft>
                <a:spcPts val="130"/>
              </a:spcAft>
              <a:buFont typeface="Wingdings" panose="05000000000000000000" pitchFamily="2" charset="2"/>
              <a:buChar char="Ø"/>
            </a:pPr>
            <a:r>
              <a:rPr lang="en-US" sz="2000" b="1" dirty="0">
                <a:latin typeface="+mj-lt"/>
                <a:hlinkClick r:id="rId3"/>
              </a:rPr>
              <a:t>LinkedIn</a:t>
            </a:r>
            <a:endParaRPr lang="en-US" sz="2000" b="1" dirty="0">
              <a:latin typeface="+mj-lt"/>
            </a:endParaRPr>
          </a:p>
          <a:p>
            <a:pPr marL="342900" indent="-342900" algn="l">
              <a:lnSpc>
                <a:spcPct val="150000"/>
              </a:lnSpc>
              <a:spcBef>
                <a:spcPts val="100"/>
              </a:spcBef>
              <a:spcAft>
                <a:spcPts val="130"/>
              </a:spcAft>
              <a:buFont typeface="Wingdings" panose="05000000000000000000" pitchFamily="2" charset="2"/>
              <a:buChar char="Ø"/>
            </a:pPr>
            <a:r>
              <a:rPr lang="en-US" sz="2000" b="1" dirty="0">
                <a:latin typeface="+mj-lt"/>
                <a:hlinkClick r:id="rId4"/>
              </a:rPr>
              <a:t>GitHub</a:t>
            </a:r>
            <a:endParaRPr lang="en-US" sz="2000" b="1" dirty="0">
              <a:latin typeface="+mj-lt"/>
            </a:endParaRPr>
          </a:p>
          <a:p>
            <a:pPr algn="just">
              <a:lnSpc>
                <a:spcPct val="150000"/>
              </a:lnSpc>
              <a:spcBef>
                <a:spcPts val="100"/>
              </a:spcBef>
              <a:spcAft>
                <a:spcPts val="130"/>
              </a:spcAft>
            </a:pPr>
            <a:endParaRPr lang="en-US" dirty="0">
              <a:latin typeface="+mj-lt"/>
            </a:endParaRPr>
          </a:p>
        </p:txBody>
      </p:sp>
      <p:sp>
        <p:nvSpPr>
          <p:cNvPr id="3" name="object 3" descr="$PPTXTitle"/>
          <p:cNvSpPr txBox="1">
            <a:spLocks noGrp="1"/>
          </p:cNvSpPr>
          <p:nvPr>
            <p:ph type="title"/>
          </p:nvPr>
        </p:nvSpPr>
        <p:spPr>
          <a:xfrm>
            <a:off x="500681" y="347669"/>
            <a:ext cx="1844039" cy="513080"/>
          </a:xfrm>
          <a:prstGeom prst="rect">
            <a:avLst/>
          </a:prstGeom>
        </p:spPr>
        <p:txBody>
          <a:bodyPr vert="horz" wrap="square" lIns="0" tIns="12700" rIns="0" bIns="0" rtlCol="0">
            <a:spAutoFit/>
          </a:bodyPr>
          <a:lstStyle/>
          <a:p>
            <a:pPr marL="12700">
              <a:lnSpc>
                <a:spcPct val="100000"/>
              </a:lnSpc>
              <a:spcBef>
                <a:spcPts val="100"/>
              </a:spcBef>
            </a:pPr>
            <a:r>
              <a:rPr sz="3200" spc="-85" dirty="0">
                <a:latin typeface="Tahoma"/>
                <a:cs typeface="Tahoma"/>
              </a:rPr>
              <a:t>About</a:t>
            </a:r>
            <a:r>
              <a:rPr sz="3200" spc="-280" dirty="0">
                <a:latin typeface="Tahoma"/>
                <a:cs typeface="Tahoma"/>
              </a:rPr>
              <a:t> </a:t>
            </a:r>
            <a:r>
              <a:rPr sz="3200" spc="-195" dirty="0">
                <a:latin typeface="Tahoma"/>
                <a:cs typeface="Tahoma"/>
              </a:rPr>
              <a:t>me</a:t>
            </a:r>
            <a:endParaRPr sz="320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dirty="0"/>
              <a:t>Agenda</a:t>
            </a:r>
            <a:r>
              <a:rPr spc="-45" dirty="0"/>
              <a:t> </a:t>
            </a:r>
            <a:r>
              <a:rPr dirty="0"/>
              <a:t>(This</a:t>
            </a:r>
            <a:r>
              <a:rPr spc="-45" dirty="0"/>
              <a:t> </a:t>
            </a:r>
            <a:r>
              <a:rPr dirty="0"/>
              <a:t>should</a:t>
            </a:r>
            <a:r>
              <a:rPr spc="-45" dirty="0"/>
              <a:t> </a:t>
            </a:r>
            <a:r>
              <a:rPr dirty="0"/>
              <a:t>be</a:t>
            </a:r>
            <a:r>
              <a:rPr spc="-40" dirty="0"/>
              <a:t> </a:t>
            </a:r>
            <a:r>
              <a:rPr dirty="0"/>
              <a:t>the</a:t>
            </a:r>
            <a:r>
              <a:rPr spc="-45" dirty="0"/>
              <a:t> </a:t>
            </a:r>
            <a:r>
              <a:rPr dirty="0"/>
              <a:t>PPT</a:t>
            </a:r>
            <a:r>
              <a:rPr spc="-45" dirty="0"/>
              <a:t> </a:t>
            </a:r>
            <a:r>
              <a:rPr spc="-10" dirty="0"/>
              <a:t>flow)</a:t>
            </a:r>
          </a:p>
        </p:txBody>
      </p:sp>
      <p:sp>
        <p:nvSpPr>
          <p:cNvPr id="3" name="object 3"/>
          <p:cNvSpPr txBox="1">
            <a:spLocks noGrp="1"/>
          </p:cNvSpPr>
          <p:nvPr>
            <p:ph type="body" idx="1"/>
          </p:nvPr>
        </p:nvSpPr>
        <p:spPr>
          <a:prstGeom prst="rect">
            <a:avLst/>
          </a:prstGeom>
        </p:spPr>
        <p:txBody>
          <a:bodyPr vert="horz" wrap="square" lIns="0" tIns="102870" rIns="0" bIns="0" rtlCol="0">
            <a:spAutoFit/>
          </a:bodyPr>
          <a:lstStyle/>
          <a:p>
            <a:pPr marL="398145" indent="-385445">
              <a:lnSpc>
                <a:spcPct val="100000"/>
              </a:lnSpc>
              <a:spcBef>
                <a:spcPts val="810"/>
              </a:spcBef>
              <a:buFont typeface="Arial"/>
              <a:buChar char="•"/>
              <a:tabLst>
                <a:tab pos="398145" algn="l"/>
              </a:tabLst>
            </a:pPr>
            <a:r>
              <a:rPr spc="-10" dirty="0"/>
              <a:t>Objective</a:t>
            </a:r>
            <a:r>
              <a:rPr spc="-50" dirty="0"/>
              <a:t> </a:t>
            </a:r>
            <a:r>
              <a:rPr dirty="0"/>
              <a:t>of</a:t>
            </a:r>
            <a:r>
              <a:rPr spc="-50" dirty="0"/>
              <a:t> </a:t>
            </a:r>
            <a:r>
              <a:rPr dirty="0"/>
              <a:t>the</a:t>
            </a:r>
            <a:r>
              <a:rPr spc="-50" dirty="0"/>
              <a:t> </a:t>
            </a:r>
            <a:r>
              <a:rPr spc="-10" dirty="0"/>
              <a:t>Project</a:t>
            </a:r>
          </a:p>
          <a:p>
            <a:pPr marL="398145" indent="-385445">
              <a:lnSpc>
                <a:spcPct val="100000"/>
              </a:lnSpc>
              <a:spcBef>
                <a:spcPts val="715"/>
              </a:spcBef>
              <a:buFont typeface="Arial"/>
              <a:buChar char="•"/>
              <a:tabLst>
                <a:tab pos="398145" algn="l"/>
              </a:tabLst>
            </a:pPr>
            <a:r>
              <a:rPr dirty="0"/>
              <a:t>ER</a:t>
            </a:r>
            <a:r>
              <a:rPr spc="-80" dirty="0"/>
              <a:t> </a:t>
            </a:r>
            <a:r>
              <a:rPr dirty="0"/>
              <a:t>Diagram</a:t>
            </a:r>
            <a:r>
              <a:rPr spc="-80" dirty="0"/>
              <a:t> </a:t>
            </a:r>
            <a:r>
              <a:rPr dirty="0"/>
              <a:t>and</a:t>
            </a:r>
            <a:r>
              <a:rPr spc="-75" dirty="0"/>
              <a:t> </a:t>
            </a:r>
            <a:r>
              <a:rPr dirty="0"/>
              <a:t>schema</a:t>
            </a:r>
            <a:r>
              <a:rPr spc="-80" dirty="0"/>
              <a:t> </a:t>
            </a:r>
            <a:r>
              <a:rPr spc="-10" dirty="0"/>
              <a:t>explanation</a:t>
            </a:r>
          </a:p>
          <a:p>
            <a:pPr marL="398145" indent="-385445">
              <a:lnSpc>
                <a:spcPct val="100000"/>
              </a:lnSpc>
              <a:spcBef>
                <a:spcPts val="710"/>
              </a:spcBef>
              <a:buFont typeface="Arial"/>
              <a:buChar char="•"/>
              <a:tabLst>
                <a:tab pos="398145" algn="l"/>
              </a:tabLst>
            </a:pPr>
            <a:r>
              <a:rPr dirty="0"/>
              <a:t>Key</a:t>
            </a:r>
            <a:r>
              <a:rPr spc="-95" dirty="0"/>
              <a:t> </a:t>
            </a:r>
            <a:r>
              <a:rPr dirty="0"/>
              <a:t>analysis</a:t>
            </a:r>
            <a:r>
              <a:rPr spc="-95" dirty="0"/>
              <a:t> </a:t>
            </a:r>
            <a:r>
              <a:rPr spc="-10" dirty="0"/>
              <a:t>questions</a:t>
            </a:r>
            <a:r>
              <a:rPr spc="-95" dirty="0"/>
              <a:t> </a:t>
            </a:r>
            <a:r>
              <a:rPr dirty="0"/>
              <a:t>(use</a:t>
            </a:r>
            <a:r>
              <a:rPr spc="-95" dirty="0"/>
              <a:t> </a:t>
            </a:r>
            <a:r>
              <a:rPr spc="-10" dirty="0"/>
              <a:t>cases)</a:t>
            </a:r>
          </a:p>
          <a:p>
            <a:pPr marL="398145" indent="-385445">
              <a:lnSpc>
                <a:spcPct val="100000"/>
              </a:lnSpc>
              <a:spcBef>
                <a:spcPts val="710"/>
              </a:spcBef>
              <a:buFont typeface="Arial"/>
              <a:buChar char="•"/>
              <a:tabLst>
                <a:tab pos="398145" algn="l"/>
              </a:tabLst>
            </a:pPr>
            <a:r>
              <a:rPr dirty="0"/>
              <a:t>SQL</a:t>
            </a:r>
            <a:r>
              <a:rPr spc="-60" dirty="0"/>
              <a:t> </a:t>
            </a:r>
            <a:r>
              <a:rPr dirty="0"/>
              <a:t>query</a:t>
            </a:r>
            <a:r>
              <a:rPr spc="-55" dirty="0"/>
              <a:t> </a:t>
            </a:r>
            <a:r>
              <a:rPr dirty="0"/>
              <a:t>results</a:t>
            </a:r>
            <a:r>
              <a:rPr spc="-55" dirty="0"/>
              <a:t> </a:t>
            </a:r>
            <a:r>
              <a:rPr dirty="0"/>
              <a:t>with</a:t>
            </a:r>
            <a:r>
              <a:rPr spc="-55" dirty="0"/>
              <a:t> </a:t>
            </a:r>
            <a:r>
              <a:rPr spc="-10" dirty="0"/>
              <a:t>screenshots</a:t>
            </a:r>
            <a:r>
              <a:rPr spc="-55" dirty="0"/>
              <a:t> </a:t>
            </a:r>
            <a:r>
              <a:rPr dirty="0"/>
              <a:t>or</a:t>
            </a:r>
            <a:r>
              <a:rPr spc="-55" dirty="0"/>
              <a:t> </a:t>
            </a:r>
            <a:r>
              <a:rPr spc="-10" dirty="0"/>
              <a:t>summaries</a:t>
            </a:r>
          </a:p>
          <a:p>
            <a:pPr marL="398145" indent="-385445">
              <a:lnSpc>
                <a:spcPct val="100000"/>
              </a:lnSpc>
              <a:spcBef>
                <a:spcPts val="715"/>
              </a:spcBef>
              <a:buFont typeface="Arial"/>
              <a:buChar char="•"/>
              <a:tabLst>
                <a:tab pos="398145" algn="l"/>
              </a:tabLst>
            </a:pPr>
            <a:r>
              <a:rPr dirty="0"/>
              <a:t>Final</a:t>
            </a:r>
            <a:r>
              <a:rPr spc="-75" dirty="0"/>
              <a:t> </a:t>
            </a:r>
            <a:r>
              <a:rPr dirty="0"/>
              <a:t>business</a:t>
            </a:r>
            <a:r>
              <a:rPr spc="-70" dirty="0"/>
              <a:t> </a:t>
            </a:r>
            <a:r>
              <a:rPr dirty="0"/>
              <a:t>insights</a:t>
            </a:r>
            <a:r>
              <a:rPr spc="-70" dirty="0"/>
              <a:t> </a:t>
            </a:r>
            <a:r>
              <a:rPr dirty="0"/>
              <a:t>and</a:t>
            </a:r>
            <a:r>
              <a:rPr spc="-70" dirty="0"/>
              <a:t> </a:t>
            </a:r>
            <a:r>
              <a:rPr spc="-10" dirty="0"/>
              <a:t>recommendations</a:t>
            </a:r>
          </a:p>
          <a:p>
            <a:pPr marL="398145" indent="-385445">
              <a:lnSpc>
                <a:spcPct val="100000"/>
              </a:lnSpc>
              <a:spcBef>
                <a:spcPts val="710"/>
              </a:spcBef>
              <a:buFont typeface="Arial"/>
              <a:buChar char="•"/>
              <a:tabLst>
                <a:tab pos="398145" algn="l"/>
              </a:tabLst>
            </a:pPr>
            <a:r>
              <a:rPr dirty="0"/>
              <a:t>Conclusion</a:t>
            </a:r>
            <a:r>
              <a:rPr spc="-75" dirty="0"/>
              <a:t> </a:t>
            </a:r>
            <a:r>
              <a:rPr dirty="0"/>
              <a:t>(Key</a:t>
            </a:r>
            <a:r>
              <a:rPr spc="-70" dirty="0"/>
              <a:t> </a:t>
            </a:r>
            <a:r>
              <a:rPr dirty="0"/>
              <a:t>finding</a:t>
            </a:r>
            <a:r>
              <a:rPr spc="-70" dirty="0"/>
              <a:t> </a:t>
            </a:r>
            <a:r>
              <a:rPr spc="-10" dirty="0"/>
              <a:t>overall)</a:t>
            </a:r>
          </a:p>
          <a:p>
            <a:pPr marL="398145" indent="-385445">
              <a:lnSpc>
                <a:spcPct val="100000"/>
              </a:lnSpc>
              <a:spcBef>
                <a:spcPts val="715"/>
              </a:spcBef>
              <a:buFont typeface="Arial"/>
              <a:buChar char="•"/>
              <a:tabLst>
                <a:tab pos="398145" algn="l"/>
              </a:tabLst>
            </a:pPr>
            <a:r>
              <a:rPr dirty="0"/>
              <a:t>Q&amp;A</a:t>
            </a:r>
            <a:r>
              <a:rPr spc="-15" dirty="0"/>
              <a:t> </a:t>
            </a:r>
            <a:r>
              <a:rPr spc="-10" dirty="0"/>
              <a:t>Slide</a:t>
            </a:r>
          </a:p>
          <a:p>
            <a:pPr marL="398145" indent="-385445">
              <a:lnSpc>
                <a:spcPct val="100000"/>
              </a:lnSpc>
              <a:spcBef>
                <a:spcPts val="710"/>
              </a:spcBef>
              <a:buFont typeface="Arial"/>
              <a:buChar char="•"/>
              <a:tabLst>
                <a:tab pos="398145" algn="l"/>
              </a:tabLst>
            </a:pPr>
            <a:r>
              <a:rPr spc="-30" dirty="0"/>
              <a:t>Your</a:t>
            </a:r>
            <a:r>
              <a:rPr spc="-45" dirty="0"/>
              <a:t> </a:t>
            </a:r>
            <a:r>
              <a:rPr spc="-20" dirty="0"/>
              <a:t>Experience/Challenges</a:t>
            </a:r>
            <a:r>
              <a:rPr spc="-45" dirty="0"/>
              <a:t> </a:t>
            </a:r>
            <a:r>
              <a:rPr dirty="0"/>
              <a:t>working</a:t>
            </a:r>
            <a:r>
              <a:rPr spc="-45" dirty="0"/>
              <a:t> </a:t>
            </a:r>
            <a:r>
              <a:rPr dirty="0"/>
              <a:t>on</a:t>
            </a:r>
            <a:r>
              <a:rPr spc="-45" dirty="0"/>
              <a:t> </a:t>
            </a:r>
            <a:r>
              <a:rPr dirty="0"/>
              <a:t>SQL</a:t>
            </a:r>
            <a:r>
              <a:rPr spc="-40" dirty="0"/>
              <a:t> </a:t>
            </a:r>
            <a:r>
              <a:rPr dirty="0"/>
              <a:t>–</a:t>
            </a:r>
            <a:r>
              <a:rPr spc="-45" dirty="0"/>
              <a:t> </a:t>
            </a:r>
            <a:r>
              <a:rPr dirty="0"/>
              <a:t>Data</a:t>
            </a:r>
            <a:r>
              <a:rPr spc="-45" dirty="0"/>
              <a:t> </a:t>
            </a:r>
            <a:r>
              <a:rPr dirty="0"/>
              <a:t>Analysis</a:t>
            </a:r>
            <a:r>
              <a:rPr spc="-45" dirty="0"/>
              <a:t> </a:t>
            </a:r>
            <a:r>
              <a:rPr spc="-10" dirty="0"/>
              <a:t>Project.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C4229B6-F75D-1C3A-C1F9-B2F99291138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1000" y="1097352"/>
            <a:ext cx="5334000" cy="3793067"/>
          </a:xfrm>
          <a:prstGeom prst="rect">
            <a:avLst/>
          </a:prstGeom>
        </p:spPr>
      </p:pic>
      <p:sp>
        <p:nvSpPr>
          <p:cNvPr id="7" name="TextBox 6">
            <a:extLst>
              <a:ext uri="{FF2B5EF4-FFF2-40B4-BE49-F238E27FC236}">
                <a16:creationId xmlns:a16="http://schemas.microsoft.com/office/drawing/2014/main" id="{E2596BA2-F683-4FF1-C834-15D1A31E0398}"/>
              </a:ext>
            </a:extLst>
          </p:cNvPr>
          <p:cNvSpPr txBox="1"/>
          <p:nvPr/>
        </p:nvSpPr>
        <p:spPr>
          <a:xfrm>
            <a:off x="1524000" y="2286000"/>
            <a:ext cx="3657600" cy="707886"/>
          </a:xfrm>
          <a:prstGeom prst="rect">
            <a:avLst/>
          </a:prstGeom>
          <a:noFill/>
        </p:spPr>
        <p:txBody>
          <a:bodyPr wrap="square" rtlCol="0">
            <a:spAutoFit/>
          </a:bodyPr>
          <a:lstStyle/>
          <a:p>
            <a:r>
              <a:rPr lang="en-IN" sz="4000" b="1" dirty="0">
                <a:solidFill>
                  <a:srgbClr val="4A2C1A"/>
                </a:solidFill>
                <a:latin typeface="+mj-lt"/>
              </a:rPr>
              <a:t>Introduction</a:t>
            </a:r>
          </a:p>
        </p:txBody>
      </p:sp>
      <p:sp>
        <p:nvSpPr>
          <p:cNvPr id="10" name="TextBox 9">
            <a:extLst>
              <a:ext uri="{FF2B5EF4-FFF2-40B4-BE49-F238E27FC236}">
                <a16:creationId xmlns:a16="http://schemas.microsoft.com/office/drawing/2014/main" id="{24CA9D8B-9BE3-83F8-5F40-288CBB4CD7E8}"/>
              </a:ext>
            </a:extLst>
          </p:cNvPr>
          <p:cNvSpPr txBox="1"/>
          <p:nvPr/>
        </p:nvSpPr>
        <p:spPr>
          <a:xfrm>
            <a:off x="5943600" y="1143000"/>
            <a:ext cx="6095999" cy="3970318"/>
          </a:xfrm>
          <a:prstGeom prst="rect">
            <a:avLst/>
          </a:prstGeom>
          <a:noFill/>
        </p:spPr>
        <p:txBody>
          <a:bodyPr wrap="square" rtlCol="0">
            <a:spAutoFit/>
          </a:bodyPr>
          <a:lstStyle/>
          <a:p>
            <a:pPr marL="285750" indent="-285750" algn="l">
              <a:buFont typeface="Wingdings" panose="05000000000000000000" pitchFamily="2" charset="2"/>
              <a:buChar char="Ø"/>
            </a:pPr>
            <a:r>
              <a:rPr lang="en-US" dirty="0">
                <a:latin typeface="+mj-lt"/>
              </a:rPr>
              <a:t>Developed an Employee Management System (EMS) to store and manage employee-related information in a structured manner</a:t>
            </a:r>
          </a:p>
          <a:p>
            <a:pPr marL="285750" indent="-285750" algn="l">
              <a:buFont typeface="Wingdings" panose="05000000000000000000" pitchFamily="2" charset="2"/>
              <a:buChar char="Ø"/>
            </a:pPr>
            <a:r>
              <a:rPr lang="en-US" dirty="0">
                <a:latin typeface="+mj-lt"/>
              </a:rPr>
              <a:t>Manages key employee details such as personal information, job roles, departments, salary, leave, and payroll</a:t>
            </a:r>
          </a:p>
          <a:p>
            <a:pPr marL="285750" indent="-285750" algn="l">
              <a:buFont typeface="Wingdings" panose="05000000000000000000" pitchFamily="2" charset="2"/>
              <a:buChar char="Ø"/>
            </a:pPr>
            <a:r>
              <a:rPr lang="en-US" dirty="0">
                <a:latin typeface="+mj-lt"/>
              </a:rPr>
              <a:t>Designed using a relational database to ensure accurate and consistent data storage</a:t>
            </a:r>
          </a:p>
          <a:p>
            <a:pPr marL="285750" indent="-285750" algn="l">
              <a:buFont typeface="Wingdings" panose="05000000000000000000" pitchFamily="2" charset="2"/>
              <a:buChar char="Ø"/>
            </a:pPr>
            <a:r>
              <a:rPr lang="en-US" dirty="0">
                <a:latin typeface="+mj-lt"/>
              </a:rPr>
              <a:t>Uses foreign keys and table relationships to connect employee, job, and payroll data</a:t>
            </a:r>
          </a:p>
          <a:p>
            <a:pPr marL="285750" indent="-285750" algn="l">
              <a:buFont typeface="Wingdings" panose="05000000000000000000" pitchFamily="2" charset="2"/>
              <a:buChar char="Ø"/>
            </a:pPr>
            <a:r>
              <a:rPr lang="en-US" dirty="0">
                <a:latin typeface="+mj-lt"/>
              </a:rPr>
              <a:t>Supports easy querying and analysis for payroll calculation, leave tracking, and department-wise roles</a:t>
            </a:r>
          </a:p>
          <a:p>
            <a:pPr marL="285750" indent="-285750" algn="l">
              <a:buFont typeface="Wingdings" panose="05000000000000000000" pitchFamily="2" charset="2"/>
              <a:buChar char="Ø"/>
            </a:pPr>
            <a:r>
              <a:rPr lang="en-US" dirty="0">
                <a:latin typeface="+mj-lt"/>
              </a:rPr>
              <a:t>Helps simplify HR operations and improves overall data management within an organization</a:t>
            </a:r>
          </a:p>
        </p:txBody>
      </p:sp>
    </p:spTree>
    <p:extLst>
      <p:ext uri="{BB962C8B-B14F-4D97-AF65-F5344CB8AC3E}">
        <p14:creationId xmlns:p14="http://schemas.microsoft.com/office/powerpoint/2010/main" val="1225184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86FFF-C1D9-C6C9-9992-B4EF6CF0BD85}"/>
              </a:ext>
            </a:extLst>
          </p:cNvPr>
          <p:cNvSpPr>
            <a:spLocks noGrp="1"/>
          </p:cNvSpPr>
          <p:nvPr>
            <p:ph type="title"/>
          </p:nvPr>
        </p:nvSpPr>
        <p:spPr/>
        <p:txBody>
          <a:bodyPr/>
          <a:lstStyle/>
          <a:p>
            <a:r>
              <a:rPr lang="en-IN" spc="-10" dirty="0"/>
              <a:t>Objective</a:t>
            </a:r>
            <a:r>
              <a:rPr lang="en-IN" spc="-50" dirty="0"/>
              <a:t> </a:t>
            </a:r>
            <a:r>
              <a:rPr lang="en-IN" dirty="0"/>
              <a:t>of</a:t>
            </a:r>
            <a:r>
              <a:rPr lang="en-IN" spc="-50" dirty="0"/>
              <a:t> </a:t>
            </a:r>
            <a:r>
              <a:rPr lang="en-IN" dirty="0"/>
              <a:t>the</a:t>
            </a:r>
            <a:r>
              <a:rPr lang="en-IN" spc="-50" dirty="0"/>
              <a:t> </a:t>
            </a:r>
            <a:r>
              <a:rPr lang="en-IN" spc="-10" dirty="0"/>
              <a:t>Project</a:t>
            </a:r>
            <a:br>
              <a:rPr lang="en-IN" spc="-10" dirty="0"/>
            </a:br>
            <a:endParaRPr lang="en-IN" dirty="0"/>
          </a:p>
        </p:txBody>
      </p:sp>
      <p:sp>
        <p:nvSpPr>
          <p:cNvPr id="3" name="Text Placeholder 2">
            <a:extLst>
              <a:ext uri="{FF2B5EF4-FFF2-40B4-BE49-F238E27FC236}">
                <a16:creationId xmlns:a16="http://schemas.microsoft.com/office/drawing/2014/main" id="{4E9F797F-F543-6F70-F949-A5F7BCED60BE}"/>
              </a:ext>
            </a:extLst>
          </p:cNvPr>
          <p:cNvSpPr>
            <a:spLocks noGrp="1"/>
          </p:cNvSpPr>
          <p:nvPr>
            <p:ph type="body" idx="1"/>
          </p:nvPr>
        </p:nvSpPr>
        <p:spPr>
          <a:xfrm>
            <a:off x="281497" y="1295400"/>
            <a:ext cx="6867206" cy="4524315"/>
          </a:xfrm>
        </p:spPr>
        <p:txBody>
          <a:bodyPr/>
          <a:lstStyle/>
          <a:p>
            <a:pPr marL="285750" indent="-285750" algn="just">
              <a:buFont typeface="Wingdings" panose="05000000000000000000" pitchFamily="2" charset="2"/>
              <a:buChar char="Ø"/>
            </a:pPr>
            <a:r>
              <a:rPr lang="en-US" sz="1800" b="0" dirty="0"/>
              <a:t>The objective of this project is to design and develop an Employee Management System that provides a structured and reliable way to store, manage, and analyze employee data within an organization. The system aims to integrate key employee information such as personal details, job roles, salary structures, qualifications, leave records, and payroll data into a well-designed relational database.</a:t>
            </a:r>
          </a:p>
          <a:p>
            <a:pPr marL="285750" indent="-285750" algn="just">
              <a:buFont typeface="Wingdings" panose="05000000000000000000" pitchFamily="2" charset="2"/>
              <a:buChar char="Ø"/>
            </a:pPr>
            <a:r>
              <a:rPr lang="en-US" sz="1800" b="0" dirty="0"/>
              <a:t>By implementing proper table relationships, foreign key constraints, and cascading rules, the system ensures data accuracy, consistency, and integrity across all modules. The project also focuses on enabling efficient querying and analysis of employee data to support functions such as payroll processing, leave management, and department-wise role tracking.</a:t>
            </a:r>
          </a:p>
          <a:p>
            <a:pPr marL="285750" indent="-285750" algn="just">
              <a:buFont typeface="Wingdings" panose="05000000000000000000" pitchFamily="2" charset="2"/>
              <a:buChar char="Ø"/>
            </a:pPr>
            <a:r>
              <a:rPr lang="en-US" sz="1800" b="0" dirty="0"/>
              <a:t>Overall, the goal is to simplify HR operations, reduce data redundancy, and provide meaningful insights that support data-driven decision-making within the organization.</a:t>
            </a:r>
          </a:p>
          <a:p>
            <a:endParaRPr lang="en-IN" dirty="0"/>
          </a:p>
        </p:txBody>
      </p:sp>
      <p:pic>
        <p:nvPicPr>
          <p:cNvPr id="11" name="Picture 10">
            <a:extLst>
              <a:ext uri="{FF2B5EF4-FFF2-40B4-BE49-F238E27FC236}">
                <a16:creationId xmlns:a16="http://schemas.microsoft.com/office/drawing/2014/main" id="{F5738BCA-1B14-58A3-C42E-B5161B81061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67600" y="1143000"/>
            <a:ext cx="4572000" cy="4343400"/>
          </a:xfrm>
          <a:prstGeom prst="rect">
            <a:avLst/>
          </a:prstGeom>
        </p:spPr>
      </p:pic>
    </p:spTree>
    <p:extLst>
      <p:ext uri="{BB962C8B-B14F-4D97-AF65-F5344CB8AC3E}">
        <p14:creationId xmlns:p14="http://schemas.microsoft.com/office/powerpoint/2010/main" val="173758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350E3-71AE-D76C-AE79-374BD9E4260C}"/>
              </a:ext>
            </a:extLst>
          </p:cNvPr>
          <p:cNvSpPr>
            <a:spLocks noGrp="1"/>
          </p:cNvSpPr>
          <p:nvPr>
            <p:ph type="title"/>
          </p:nvPr>
        </p:nvSpPr>
        <p:spPr/>
        <p:txBody>
          <a:bodyPr/>
          <a:lstStyle/>
          <a:p>
            <a:r>
              <a:rPr lang="en-IN" dirty="0"/>
              <a:t>Database Schema Overview</a:t>
            </a:r>
          </a:p>
        </p:txBody>
      </p:sp>
      <p:pic>
        <p:nvPicPr>
          <p:cNvPr id="10" name="Picture 9">
            <a:extLst>
              <a:ext uri="{FF2B5EF4-FFF2-40B4-BE49-F238E27FC236}">
                <a16:creationId xmlns:a16="http://schemas.microsoft.com/office/drawing/2014/main" id="{824E0814-2B0E-4242-EB89-95A345BE2C04}"/>
              </a:ext>
            </a:extLst>
          </p:cNvPr>
          <p:cNvPicPr>
            <a:picLocks noChangeAspect="1"/>
          </p:cNvPicPr>
          <p:nvPr/>
        </p:nvPicPr>
        <p:blipFill>
          <a:blip r:embed="rId2"/>
          <a:stretch>
            <a:fillRect/>
          </a:stretch>
        </p:blipFill>
        <p:spPr>
          <a:xfrm>
            <a:off x="281497" y="1524000"/>
            <a:ext cx="7567103" cy="1317595"/>
          </a:xfrm>
          <a:prstGeom prst="rect">
            <a:avLst/>
          </a:prstGeom>
        </p:spPr>
      </p:pic>
      <p:sp>
        <p:nvSpPr>
          <p:cNvPr id="11" name="TextBox 10">
            <a:extLst>
              <a:ext uri="{FF2B5EF4-FFF2-40B4-BE49-F238E27FC236}">
                <a16:creationId xmlns:a16="http://schemas.microsoft.com/office/drawing/2014/main" id="{0711657E-CBDA-2A3E-FC81-25DE6A2A0729}"/>
              </a:ext>
            </a:extLst>
          </p:cNvPr>
          <p:cNvSpPr txBox="1"/>
          <p:nvPr/>
        </p:nvSpPr>
        <p:spPr>
          <a:xfrm>
            <a:off x="251017" y="1078964"/>
            <a:ext cx="2238314" cy="369332"/>
          </a:xfrm>
          <a:prstGeom prst="rect">
            <a:avLst/>
          </a:prstGeom>
          <a:noFill/>
        </p:spPr>
        <p:txBody>
          <a:bodyPr wrap="square" rtlCol="0">
            <a:spAutoFit/>
          </a:bodyPr>
          <a:lstStyle/>
          <a:p>
            <a:pPr marL="285750" indent="-285750">
              <a:buFont typeface="Wingdings" panose="05000000000000000000" pitchFamily="2" charset="2"/>
              <a:buChar char="Ø"/>
            </a:pPr>
            <a:r>
              <a:rPr lang="en-IN" sz="1800" b="1" dirty="0"/>
              <a:t>JobDepartment</a:t>
            </a:r>
            <a:endParaRPr lang="en-IN" b="1" dirty="0"/>
          </a:p>
        </p:txBody>
      </p:sp>
      <p:sp>
        <p:nvSpPr>
          <p:cNvPr id="12" name="TextBox 11">
            <a:extLst>
              <a:ext uri="{FF2B5EF4-FFF2-40B4-BE49-F238E27FC236}">
                <a16:creationId xmlns:a16="http://schemas.microsoft.com/office/drawing/2014/main" id="{EAA5C9EC-2C17-F0BB-D894-D6C2B554E5F7}"/>
              </a:ext>
            </a:extLst>
          </p:cNvPr>
          <p:cNvSpPr txBox="1"/>
          <p:nvPr/>
        </p:nvSpPr>
        <p:spPr>
          <a:xfrm>
            <a:off x="270294" y="2872544"/>
            <a:ext cx="2162114"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t>SalaryBonus</a:t>
            </a:r>
            <a:endParaRPr lang="en-IN" dirty="0"/>
          </a:p>
        </p:txBody>
      </p:sp>
      <p:pic>
        <p:nvPicPr>
          <p:cNvPr id="14" name="Picture 13">
            <a:extLst>
              <a:ext uri="{FF2B5EF4-FFF2-40B4-BE49-F238E27FC236}">
                <a16:creationId xmlns:a16="http://schemas.microsoft.com/office/drawing/2014/main" id="{1647CED8-2D08-CC5B-226D-1E63443D849B}"/>
              </a:ext>
            </a:extLst>
          </p:cNvPr>
          <p:cNvPicPr>
            <a:picLocks noChangeAspect="1"/>
          </p:cNvPicPr>
          <p:nvPr/>
        </p:nvPicPr>
        <p:blipFill>
          <a:blip r:embed="rId3"/>
          <a:stretch>
            <a:fillRect/>
          </a:stretch>
        </p:blipFill>
        <p:spPr>
          <a:xfrm>
            <a:off x="281497" y="3283290"/>
            <a:ext cx="4138103" cy="1406332"/>
          </a:xfrm>
          <a:prstGeom prst="rect">
            <a:avLst/>
          </a:prstGeom>
        </p:spPr>
      </p:pic>
      <p:pic>
        <p:nvPicPr>
          <p:cNvPr id="16" name="Picture 15">
            <a:extLst>
              <a:ext uri="{FF2B5EF4-FFF2-40B4-BE49-F238E27FC236}">
                <a16:creationId xmlns:a16="http://schemas.microsoft.com/office/drawing/2014/main" id="{DFB5F7D6-CF3A-D311-A77B-77C3753BC135}"/>
              </a:ext>
            </a:extLst>
          </p:cNvPr>
          <p:cNvPicPr>
            <a:picLocks noChangeAspect="1"/>
          </p:cNvPicPr>
          <p:nvPr/>
        </p:nvPicPr>
        <p:blipFill>
          <a:blip r:embed="rId4"/>
          <a:stretch>
            <a:fillRect/>
          </a:stretch>
        </p:blipFill>
        <p:spPr>
          <a:xfrm>
            <a:off x="270294" y="5105400"/>
            <a:ext cx="7951777" cy="1306033"/>
          </a:xfrm>
          <a:prstGeom prst="rect">
            <a:avLst/>
          </a:prstGeom>
        </p:spPr>
      </p:pic>
      <p:sp>
        <p:nvSpPr>
          <p:cNvPr id="17" name="TextBox 16">
            <a:extLst>
              <a:ext uri="{FF2B5EF4-FFF2-40B4-BE49-F238E27FC236}">
                <a16:creationId xmlns:a16="http://schemas.microsoft.com/office/drawing/2014/main" id="{279A9642-5AF0-28B8-4B25-E683F294044A}"/>
              </a:ext>
            </a:extLst>
          </p:cNvPr>
          <p:cNvSpPr txBox="1"/>
          <p:nvPr/>
        </p:nvSpPr>
        <p:spPr>
          <a:xfrm>
            <a:off x="281497" y="4705119"/>
            <a:ext cx="1704914"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t>Employee</a:t>
            </a:r>
          </a:p>
        </p:txBody>
      </p:sp>
    </p:spTree>
    <p:extLst>
      <p:ext uri="{BB962C8B-B14F-4D97-AF65-F5344CB8AC3E}">
        <p14:creationId xmlns:p14="http://schemas.microsoft.com/office/powerpoint/2010/main" val="318825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F976D-96C1-1EF4-4D6A-33EF9FB4C8E7}"/>
              </a:ext>
            </a:extLst>
          </p:cNvPr>
          <p:cNvSpPr>
            <a:spLocks noGrp="1"/>
          </p:cNvSpPr>
          <p:nvPr>
            <p:ph type="title"/>
          </p:nvPr>
        </p:nvSpPr>
        <p:spPr/>
        <p:txBody>
          <a:bodyPr/>
          <a:lstStyle/>
          <a:p>
            <a:r>
              <a:rPr lang="en-IN" dirty="0"/>
              <a:t>Database Schema Overview</a:t>
            </a:r>
          </a:p>
        </p:txBody>
      </p:sp>
      <p:pic>
        <p:nvPicPr>
          <p:cNvPr id="5" name="Picture 4">
            <a:extLst>
              <a:ext uri="{FF2B5EF4-FFF2-40B4-BE49-F238E27FC236}">
                <a16:creationId xmlns:a16="http://schemas.microsoft.com/office/drawing/2014/main" id="{E1A02E7F-8845-29D1-10D3-E967046DED5D}"/>
              </a:ext>
            </a:extLst>
          </p:cNvPr>
          <p:cNvPicPr>
            <a:picLocks noChangeAspect="1"/>
          </p:cNvPicPr>
          <p:nvPr/>
        </p:nvPicPr>
        <p:blipFill>
          <a:blip r:embed="rId2"/>
          <a:stretch>
            <a:fillRect/>
          </a:stretch>
        </p:blipFill>
        <p:spPr>
          <a:xfrm>
            <a:off x="281497" y="1447801"/>
            <a:ext cx="7287259" cy="1301161"/>
          </a:xfrm>
          <a:prstGeom prst="rect">
            <a:avLst/>
          </a:prstGeom>
        </p:spPr>
      </p:pic>
      <p:sp>
        <p:nvSpPr>
          <p:cNvPr id="6" name="TextBox 5">
            <a:extLst>
              <a:ext uri="{FF2B5EF4-FFF2-40B4-BE49-F238E27FC236}">
                <a16:creationId xmlns:a16="http://schemas.microsoft.com/office/drawing/2014/main" id="{80E01356-453F-8D3E-BD70-1CAE6724BBB9}"/>
              </a:ext>
            </a:extLst>
          </p:cNvPr>
          <p:cNvSpPr txBox="1"/>
          <p:nvPr/>
        </p:nvSpPr>
        <p:spPr>
          <a:xfrm>
            <a:off x="381000" y="986547"/>
            <a:ext cx="3076514"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t>Qualification</a:t>
            </a:r>
          </a:p>
        </p:txBody>
      </p:sp>
      <p:pic>
        <p:nvPicPr>
          <p:cNvPr id="8" name="Picture 7">
            <a:extLst>
              <a:ext uri="{FF2B5EF4-FFF2-40B4-BE49-F238E27FC236}">
                <a16:creationId xmlns:a16="http://schemas.microsoft.com/office/drawing/2014/main" id="{6CCD344F-12FE-19B3-E8D7-94DF4D542695}"/>
              </a:ext>
            </a:extLst>
          </p:cNvPr>
          <p:cNvPicPr>
            <a:picLocks noChangeAspect="1"/>
          </p:cNvPicPr>
          <p:nvPr/>
        </p:nvPicPr>
        <p:blipFill>
          <a:blip r:embed="rId3"/>
          <a:stretch>
            <a:fillRect/>
          </a:stretch>
        </p:blipFill>
        <p:spPr>
          <a:xfrm>
            <a:off x="281497" y="3221178"/>
            <a:ext cx="6001588" cy="1301161"/>
          </a:xfrm>
          <a:prstGeom prst="rect">
            <a:avLst/>
          </a:prstGeom>
        </p:spPr>
      </p:pic>
      <p:sp>
        <p:nvSpPr>
          <p:cNvPr id="9" name="TextBox 8">
            <a:extLst>
              <a:ext uri="{FF2B5EF4-FFF2-40B4-BE49-F238E27FC236}">
                <a16:creationId xmlns:a16="http://schemas.microsoft.com/office/drawing/2014/main" id="{6D7C4655-71E7-53F4-75E6-AD6113EBC9CC}"/>
              </a:ext>
            </a:extLst>
          </p:cNvPr>
          <p:cNvSpPr txBox="1"/>
          <p:nvPr/>
        </p:nvSpPr>
        <p:spPr>
          <a:xfrm>
            <a:off x="281497" y="2819400"/>
            <a:ext cx="2085914"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t>Leaves</a:t>
            </a:r>
          </a:p>
        </p:txBody>
      </p:sp>
      <p:sp>
        <p:nvSpPr>
          <p:cNvPr id="10" name="TextBox 9">
            <a:extLst>
              <a:ext uri="{FF2B5EF4-FFF2-40B4-BE49-F238E27FC236}">
                <a16:creationId xmlns:a16="http://schemas.microsoft.com/office/drawing/2014/main" id="{17E072D6-9267-CFA8-8BE7-E477A4DE3FB0}"/>
              </a:ext>
            </a:extLst>
          </p:cNvPr>
          <p:cNvSpPr txBox="1"/>
          <p:nvPr/>
        </p:nvSpPr>
        <p:spPr>
          <a:xfrm>
            <a:off x="278056" y="4534629"/>
            <a:ext cx="1552514" cy="369332"/>
          </a:xfrm>
          <a:prstGeom prst="rect">
            <a:avLst/>
          </a:prstGeom>
          <a:noFill/>
        </p:spPr>
        <p:txBody>
          <a:bodyPr wrap="square" rtlCol="0">
            <a:spAutoFit/>
          </a:bodyPr>
          <a:lstStyle/>
          <a:p>
            <a:pPr marL="285750" indent="-285750">
              <a:buFont typeface="Wingdings" panose="05000000000000000000" pitchFamily="2" charset="2"/>
              <a:buChar char="Ø"/>
            </a:pPr>
            <a:r>
              <a:rPr lang="en-IN" b="1" dirty="0"/>
              <a:t>Payroll</a:t>
            </a:r>
          </a:p>
        </p:txBody>
      </p:sp>
      <p:pic>
        <p:nvPicPr>
          <p:cNvPr id="14" name="Picture 13">
            <a:extLst>
              <a:ext uri="{FF2B5EF4-FFF2-40B4-BE49-F238E27FC236}">
                <a16:creationId xmlns:a16="http://schemas.microsoft.com/office/drawing/2014/main" id="{F5ED13E8-AEF6-A9B2-5F76-36DF372C9E47}"/>
              </a:ext>
            </a:extLst>
          </p:cNvPr>
          <p:cNvPicPr>
            <a:picLocks noChangeAspect="1"/>
          </p:cNvPicPr>
          <p:nvPr/>
        </p:nvPicPr>
        <p:blipFill>
          <a:blip r:embed="rId4"/>
          <a:stretch>
            <a:fillRect/>
          </a:stretch>
        </p:blipFill>
        <p:spPr>
          <a:xfrm>
            <a:off x="278056" y="4876800"/>
            <a:ext cx="7772400" cy="1614268"/>
          </a:xfrm>
          <a:prstGeom prst="rect">
            <a:avLst/>
          </a:prstGeom>
        </p:spPr>
      </p:pic>
    </p:spTree>
    <p:extLst>
      <p:ext uri="{BB962C8B-B14F-4D97-AF65-F5344CB8AC3E}">
        <p14:creationId xmlns:p14="http://schemas.microsoft.com/office/powerpoint/2010/main" val="2012096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CCA81-9DBA-5104-BCB4-6BEAAA8906A8}"/>
              </a:ext>
            </a:extLst>
          </p:cNvPr>
          <p:cNvSpPr>
            <a:spLocks noGrp="1"/>
          </p:cNvSpPr>
          <p:nvPr>
            <p:ph type="title"/>
          </p:nvPr>
        </p:nvSpPr>
        <p:spPr/>
        <p:txBody>
          <a:bodyPr/>
          <a:lstStyle/>
          <a:p>
            <a:r>
              <a:rPr lang="en-IN" dirty="0"/>
              <a:t>ER</a:t>
            </a:r>
            <a:r>
              <a:rPr lang="en-IN" spc="-80" dirty="0"/>
              <a:t> </a:t>
            </a:r>
            <a:r>
              <a:rPr lang="en-IN" dirty="0"/>
              <a:t>Diagram</a:t>
            </a:r>
          </a:p>
        </p:txBody>
      </p:sp>
      <p:sp>
        <p:nvSpPr>
          <p:cNvPr id="13" name="TextBox 12">
            <a:extLst>
              <a:ext uri="{FF2B5EF4-FFF2-40B4-BE49-F238E27FC236}">
                <a16:creationId xmlns:a16="http://schemas.microsoft.com/office/drawing/2014/main" id="{73F045C0-B556-F144-95D1-429EC1B114A1}"/>
              </a:ext>
            </a:extLst>
          </p:cNvPr>
          <p:cNvSpPr txBox="1"/>
          <p:nvPr/>
        </p:nvSpPr>
        <p:spPr>
          <a:xfrm>
            <a:off x="8763000" y="1066800"/>
            <a:ext cx="2971800" cy="2308324"/>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mj-lt"/>
              </a:rPr>
              <a:t>An ER Diagram (Entity–Relationship Diagram) is a visual representation of a database structure that shows what data is stored and how different data entities are related to each other.</a:t>
            </a:r>
            <a:endParaRPr lang="en-IN" dirty="0">
              <a:latin typeface="+mj-lt"/>
            </a:endParaRPr>
          </a:p>
        </p:txBody>
      </p:sp>
      <p:pic>
        <p:nvPicPr>
          <p:cNvPr id="15" name="Picture 14">
            <a:extLst>
              <a:ext uri="{FF2B5EF4-FFF2-40B4-BE49-F238E27FC236}">
                <a16:creationId xmlns:a16="http://schemas.microsoft.com/office/drawing/2014/main" id="{891E39D2-9661-58A2-1D0C-2E1BD3554CD3}"/>
              </a:ext>
            </a:extLst>
          </p:cNvPr>
          <p:cNvPicPr>
            <a:picLocks noChangeAspect="1"/>
          </p:cNvPicPr>
          <p:nvPr/>
        </p:nvPicPr>
        <p:blipFill>
          <a:blip r:embed="rId2"/>
          <a:stretch>
            <a:fillRect/>
          </a:stretch>
        </p:blipFill>
        <p:spPr>
          <a:xfrm>
            <a:off x="228600" y="1066800"/>
            <a:ext cx="8630314" cy="5715000"/>
          </a:xfrm>
          <a:prstGeom prst="rect">
            <a:avLst/>
          </a:prstGeom>
        </p:spPr>
      </p:pic>
    </p:spTree>
    <p:extLst>
      <p:ext uri="{BB962C8B-B14F-4D97-AF65-F5344CB8AC3E}">
        <p14:creationId xmlns:p14="http://schemas.microsoft.com/office/powerpoint/2010/main" val="2691910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BC055-8580-B826-5FC3-ED91BE22F5B8}"/>
              </a:ext>
            </a:extLst>
          </p:cNvPr>
          <p:cNvSpPr>
            <a:spLocks noGrp="1"/>
          </p:cNvSpPr>
          <p:nvPr>
            <p:ph type="title"/>
          </p:nvPr>
        </p:nvSpPr>
        <p:spPr/>
        <p:txBody>
          <a:bodyPr/>
          <a:lstStyle/>
          <a:p>
            <a:r>
              <a:rPr lang="en-IN" dirty="0"/>
              <a:t>Schema Explanation</a:t>
            </a:r>
          </a:p>
        </p:txBody>
      </p:sp>
      <p:sp>
        <p:nvSpPr>
          <p:cNvPr id="3" name="Text Placeholder 2">
            <a:extLst>
              <a:ext uri="{FF2B5EF4-FFF2-40B4-BE49-F238E27FC236}">
                <a16:creationId xmlns:a16="http://schemas.microsoft.com/office/drawing/2014/main" id="{E4BBBBBF-C577-0D38-C041-EE4234E9AC85}"/>
              </a:ext>
            </a:extLst>
          </p:cNvPr>
          <p:cNvSpPr>
            <a:spLocks noGrp="1"/>
          </p:cNvSpPr>
          <p:nvPr>
            <p:ph type="body" idx="1"/>
          </p:nvPr>
        </p:nvSpPr>
        <p:spPr>
          <a:xfrm>
            <a:off x="281497" y="986547"/>
            <a:ext cx="10448605" cy="4985980"/>
          </a:xfrm>
        </p:spPr>
        <p:txBody>
          <a:bodyPr/>
          <a:lstStyle/>
          <a:p>
            <a:pPr marL="285750" indent="-285750">
              <a:buFont typeface="Wingdings" panose="05000000000000000000" pitchFamily="2" charset="2"/>
              <a:buChar char="Ø"/>
            </a:pPr>
            <a:r>
              <a:rPr lang="en-US" sz="1800" dirty="0"/>
              <a:t>Job Department → Employee (One-to-Many)</a:t>
            </a:r>
          </a:p>
          <a:p>
            <a:r>
              <a:rPr lang="en-US" sz="1800" b="0" dirty="0"/>
              <a:t>One job department can have multiple employees, but each employee belongs to only one department.</a:t>
            </a:r>
          </a:p>
          <a:p>
            <a:pPr marL="285750" indent="-285750">
              <a:buFont typeface="Wingdings" panose="05000000000000000000" pitchFamily="2" charset="2"/>
              <a:buChar char="Ø"/>
            </a:pPr>
            <a:r>
              <a:rPr lang="en-US" sz="1800" dirty="0"/>
              <a:t>Job Department → Salary Bonus (One-to-Many)</a:t>
            </a:r>
          </a:p>
          <a:p>
            <a:r>
              <a:rPr lang="en-US" sz="1800" b="0" dirty="0"/>
              <a:t>One job role or department can have multiple salary structures, but each salary record is linked to only one job role.</a:t>
            </a:r>
          </a:p>
          <a:p>
            <a:pPr marL="285750" indent="-285750">
              <a:buFont typeface="Wingdings" panose="05000000000000000000" pitchFamily="2" charset="2"/>
              <a:buChar char="Ø"/>
            </a:pPr>
            <a:r>
              <a:rPr lang="en-US" sz="1800" dirty="0"/>
              <a:t>Employee → Qualification (One-to-Many)</a:t>
            </a:r>
          </a:p>
          <a:p>
            <a:r>
              <a:rPr lang="en-US" sz="1800" b="0" dirty="0"/>
              <a:t>One employee can have multiple qualifications, but each qualification belongs to only one employee.</a:t>
            </a:r>
          </a:p>
          <a:p>
            <a:pPr marL="285750" indent="-285750">
              <a:buFont typeface="Wingdings" panose="05000000000000000000" pitchFamily="2" charset="2"/>
              <a:buChar char="Ø"/>
            </a:pPr>
            <a:r>
              <a:rPr lang="en-US" sz="1800" dirty="0"/>
              <a:t>Employee → Leaves (One-to-Many)</a:t>
            </a:r>
          </a:p>
          <a:p>
            <a:r>
              <a:rPr lang="en-US" sz="1800" b="0" dirty="0"/>
              <a:t>One employee can take multiple leaves, but each leave record is associated with only one employee.</a:t>
            </a:r>
          </a:p>
          <a:p>
            <a:pPr marL="285750" indent="-285750">
              <a:buFont typeface="Wingdings" panose="05000000000000000000" pitchFamily="2" charset="2"/>
              <a:buChar char="Ø"/>
            </a:pPr>
            <a:r>
              <a:rPr lang="en-US" sz="1800" dirty="0"/>
              <a:t>Employee → Payroll (One-to-Many)</a:t>
            </a:r>
          </a:p>
          <a:p>
            <a:r>
              <a:rPr lang="en-US" sz="1800" b="0" dirty="0"/>
              <a:t>One employee can have multiple payroll records (monthly payrolls), but each payroll record belongs to one employee.</a:t>
            </a:r>
          </a:p>
          <a:p>
            <a:pPr marL="285750" indent="-285750">
              <a:buFont typeface="Wingdings" panose="05000000000000000000" pitchFamily="2" charset="2"/>
              <a:buChar char="Ø"/>
            </a:pPr>
            <a:r>
              <a:rPr lang="en-US" sz="1800" dirty="0"/>
              <a:t>Salary Bonus → Payroll (One-to-Many)</a:t>
            </a:r>
          </a:p>
          <a:p>
            <a:r>
              <a:rPr lang="en-US" sz="1800" b="0" dirty="0"/>
              <a:t>One salary structure can be used in multiple payroll records, but each payroll record uses only one salary structure.</a:t>
            </a:r>
          </a:p>
          <a:p>
            <a:pPr marL="285750" indent="-285750">
              <a:buFont typeface="Wingdings" panose="05000000000000000000" pitchFamily="2" charset="2"/>
              <a:buChar char="Ø"/>
            </a:pPr>
            <a:r>
              <a:rPr lang="en-US" sz="1800" dirty="0"/>
              <a:t>Leaves → Payroll (One-to-One per payroll cycle)</a:t>
            </a:r>
          </a:p>
          <a:p>
            <a:r>
              <a:rPr lang="en-US" sz="1800" b="0" dirty="0"/>
              <a:t>Each payroll record can reference leave details for that specific period to apply leave deductions.</a:t>
            </a:r>
          </a:p>
          <a:p>
            <a:endParaRPr lang="en-IN" sz="1800" dirty="0"/>
          </a:p>
        </p:txBody>
      </p:sp>
    </p:spTree>
    <p:extLst>
      <p:ext uri="{BB962C8B-B14F-4D97-AF65-F5344CB8AC3E}">
        <p14:creationId xmlns:p14="http://schemas.microsoft.com/office/powerpoint/2010/main" val="2069693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61DAC-C569-636A-0333-98AF21EE7C5F}"/>
              </a:ext>
            </a:extLst>
          </p:cNvPr>
          <p:cNvSpPr>
            <a:spLocks noGrp="1"/>
          </p:cNvSpPr>
          <p:nvPr>
            <p:ph type="title"/>
          </p:nvPr>
        </p:nvSpPr>
        <p:spPr>
          <a:xfrm>
            <a:off x="281497" y="290587"/>
            <a:ext cx="8630920" cy="677108"/>
          </a:xfrm>
        </p:spPr>
        <p:txBody>
          <a:bodyPr/>
          <a:lstStyle/>
          <a:p>
            <a:r>
              <a:rPr lang="en-IN" dirty="0"/>
              <a:t>1. EMPLOYEE INSIGHTS</a:t>
            </a:r>
          </a:p>
        </p:txBody>
      </p:sp>
      <p:sp>
        <p:nvSpPr>
          <p:cNvPr id="4" name="Rectangle 3">
            <a:extLst>
              <a:ext uri="{FF2B5EF4-FFF2-40B4-BE49-F238E27FC236}">
                <a16:creationId xmlns:a16="http://schemas.microsoft.com/office/drawing/2014/main" id="{620D90D6-4A7F-8FBF-417C-7F71F6FD76F0}"/>
              </a:ext>
            </a:extLst>
          </p:cNvPr>
          <p:cNvSpPr/>
          <p:nvPr/>
        </p:nvSpPr>
        <p:spPr>
          <a:xfrm>
            <a:off x="609600" y="1143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ea typeface="+mn-ea"/>
                <a:cs typeface="+mn-cs"/>
              </a:rPr>
              <a:t>How many unique employees are currently in the system?</a:t>
            </a:r>
            <a:endParaRPr lang="en-IN" dirty="0"/>
          </a:p>
        </p:txBody>
      </p:sp>
      <p:pic>
        <p:nvPicPr>
          <p:cNvPr id="8" name="Picture 7">
            <a:extLst>
              <a:ext uri="{FF2B5EF4-FFF2-40B4-BE49-F238E27FC236}">
                <a16:creationId xmlns:a16="http://schemas.microsoft.com/office/drawing/2014/main" id="{424C1727-076A-542A-B8A6-354764D672CF}"/>
              </a:ext>
            </a:extLst>
          </p:cNvPr>
          <p:cNvPicPr>
            <a:picLocks noChangeAspect="1"/>
          </p:cNvPicPr>
          <p:nvPr/>
        </p:nvPicPr>
        <p:blipFill>
          <a:blip r:embed="rId2"/>
          <a:stretch>
            <a:fillRect/>
          </a:stretch>
        </p:blipFill>
        <p:spPr>
          <a:xfrm>
            <a:off x="762000" y="3470375"/>
            <a:ext cx="3229426" cy="885949"/>
          </a:xfrm>
          <a:prstGeom prst="rect">
            <a:avLst/>
          </a:prstGeom>
        </p:spPr>
      </p:pic>
      <p:sp>
        <p:nvSpPr>
          <p:cNvPr id="9" name="TextBox 8">
            <a:extLst>
              <a:ext uri="{FF2B5EF4-FFF2-40B4-BE49-F238E27FC236}">
                <a16:creationId xmlns:a16="http://schemas.microsoft.com/office/drawing/2014/main" id="{A5061093-1F8B-E076-C45D-0366EAC89AC9}"/>
              </a:ext>
            </a:extLst>
          </p:cNvPr>
          <p:cNvSpPr txBox="1"/>
          <p:nvPr/>
        </p:nvSpPr>
        <p:spPr>
          <a:xfrm>
            <a:off x="685800" y="2972686"/>
            <a:ext cx="2314514" cy="461665"/>
          </a:xfrm>
          <a:prstGeom prst="rect">
            <a:avLst/>
          </a:prstGeom>
          <a:noFill/>
        </p:spPr>
        <p:txBody>
          <a:bodyPr wrap="square" rtlCol="0">
            <a:spAutoFit/>
          </a:bodyPr>
          <a:lstStyle/>
          <a:p>
            <a:r>
              <a:rPr lang="en-IN" sz="2400" dirty="0">
                <a:latin typeface="+mj-lt"/>
              </a:rPr>
              <a:t>Result:</a:t>
            </a:r>
          </a:p>
        </p:txBody>
      </p:sp>
      <p:sp>
        <p:nvSpPr>
          <p:cNvPr id="10" name="TextBox 9">
            <a:extLst>
              <a:ext uri="{FF2B5EF4-FFF2-40B4-BE49-F238E27FC236}">
                <a16:creationId xmlns:a16="http://schemas.microsoft.com/office/drawing/2014/main" id="{75718743-CED4-41E9-78B5-47B0AB9F85B5}"/>
              </a:ext>
            </a:extLst>
          </p:cNvPr>
          <p:cNvSpPr txBox="1"/>
          <p:nvPr/>
        </p:nvSpPr>
        <p:spPr>
          <a:xfrm>
            <a:off x="762000" y="4572000"/>
            <a:ext cx="10058400" cy="369332"/>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mj-lt"/>
              </a:rPr>
              <a:t>There are 60 unique employees currently present in the organization.</a:t>
            </a:r>
            <a:endParaRPr lang="en-IN" dirty="0">
              <a:latin typeface="+mj-lt"/>
            </a:endParaRPr>
          </a:p>
        </p:txBody>
      </p:sp>
      <p:pic>
        <p:nvPicPr>
          <p:cNvPr id="5" name="Picture 4">
            <a:extLst>
              <a:ext uri="{FF2B5EF4-FFF2-40B4-BE49-F238E27FC236}">
                <a16:creationId xmlns:a16="http://schemas.microsoft.com/office/drawing/2014/main" id="{CB407ACF-FA20-741F-513A-07B4CA07556E}"/>
              </a:ext>
            </a:extLst>
          </p:cNvPr>
          <p:cNvPicPr>
            <a:picLocks noChangeAspect="1"/>
          </p:cNvPicPr>
          <p:nvPr/>
        </p:nvPicPr>
        <p:blipFill>
          <a:blip r:embed="rId3"/>
          <a:stretch>
            <a:fillRect/>
          </a:stretch>
        </p:blipFill>
        <p:spPr>
          <a:xfrm>
            <a:off x="609600" y="1762896"/>
            <a:ext cx="6535062" cy="1267002"/>
          </a:xfrm>
          <a:prstGeom prst="rect">
            <a:avLst/>
          </a:prstGeom>
        </p:spPr>
      </p:pic>
    </p:spTree>
    <p:extLst>
      <p:ext uri="{BB962C8B-B14F-4D97-AF65-F5344CB8AC3E}">
        <p14:creationId xmlns:p14="http://schemas.microsoft.com/office/powerpoint/2010/main" val="4275285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71AEB68-7F39-B426-969B-7EC03CBC3DA3}"/>
              </a:ext>
            </a:extLst>
          </p:cNvPr>
          <p:cNvSpPr/>
          <p:nvPr/>
        </p:nvSpPr>
        <p:spPr>
          <a:xfrm>
            <a:off x="685800" y="381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n-lt"/>
                <a:ea typeface="+mn-ea"/>
                <a:cs typeface="+mn-cs"/>
              </a:rPr>
              <a:t>Which departments have the highest number of employees?</a:t>
            </a:r>
            <a:endParaRPr lang="en-IN" b="1" dirty="0">
              <a:solidFill>
                <a:schemeClr val="tx1"/>
              </a:solidFill>
            </a:endParaRPr>
          </a:p>
        </p:txBody>
      </p:sp>
      <p:pic>
        <p:nvPicPr>
          <p:cNvPr id="6" name="Picture 5">
            <a:extLst>
              <a:ext uri="{FF2B5EF4-FFF2-40B4-BE49-F238E27FC236}">
                <a16:creationId xmlns:a16="http://schemas.microsoft.com/office/drawing/2014/main" id="{FC4FEBE8-802F-5D5E-751D-7764AD6327F1}"/>
              </a:ext>
            </a:extLst>
          </p:cNvPr>
          <p:cNvPicPr>
            <a:picLocks noChangeAspect="1"/>
          </p:cNvPicPr>
          <p:nvPr/>
        </p:nvPicPr>
        <p:blipFill>
          <a:blip r:embed="rId2"/>
          <a:stretch>
            <a:fillRect/>
          </a:stretch>
        </p:blipFill>
        <p:spPr>
          <a:xfrm>
            <a:off x="762000" y="1371600"/>
            <a:ext cx="4572000" cy="3814075"/>
          </a:xfrm>
          <a:prstGeom prst="rect">
            <a:avLst/>
          </a:prstGeom>
        </p:spPr>
      </p:pic>
      <p:pic>
        <p:nvPicPr>
          <p:cNvPr id="8" name="Picture 7">
            <a:extLst>
              <a:ext uri="{FF2B5EF4-FFF2-40B4-BE49-F238E27FC236}">
                <a16:creationId xmlns:a16="http://schemas.microsoft.com/office/drawing/2014/main" id="{01861C26-61E0-CE23-2E4D-B86BDFA2D63E}"/>
              </a:ext>
            </a:extLst>
          </p:cNvPr>
          <p:cNvPicPr>
            <a:picLocks noChangeAspect="1"/>
          </p:cNvPicPr>
          <p:nvPr/>
        </p:nvPicPr>
        <p:blipFill>
          <a:blip r:embed="rId3"/>
          <a:stretch>
            <a:fillRect/>
          </a:stretch>
        </p:blipFill>
        <p:spPr>
          <a:xfrm>
            <a:off x="6400800" y="1752600"/>
            <a:ext cx="3591426" cy="1171739"/>
          </a:xfrm>
          <a:prstGeom prst="rect">
            <a:avLst/>
          </a:prstGeom>
        </p:spPr>
      </p:pic>
      <p:sp>
        <p:nvSpPr>
          <p:cNvPr id="9" name="TextBox 8">
            <a:extLst>
              <a:ext uri="{FF2B5EF4-FFF2-40B4-BE49-F238E27FC236}">
                <a16:creationId xmlns:a16="http://schemas.microsoft.com/office/drawing/2014/main" id="{FBAF7669-0B2F-DE18-6008-DFDC9ADB0E98}"/>
              </a:ext>
            </a:extLst>
          </p:cNvPr>
          <p:cNvSpPr txBox="1"/>
          <p:nvPr/>
        </p:nvSpPr>
        <p:spPr>
          <a:xfrm>
            <a:off x="6324600" y="1295400"/>
            <a:ext cx="845103" cy="369332"/>
          </a:xfrm>
          <a:prstGeom prst="rect">
            <a:avLst/>
          </a:prstGeom>
          <a:noFill/>
        </p:spPr>
        <p:txBody>
          <a:bodyPr wrap="none" rtlCol="0">
            <a:spAutoFit/>
          </a:bodyPr>
          <a:lstStyle/>
          <a:p>
            <a:r>
              <a:rPr lang="en-IN" b="1" dirty="0">
                <a:latin typeface="+mj-lt"/>
              </a:rPr>
              <a:t>Result:</a:t>
            </a:r>
          </a:p>
        </p:txBody>
      </p:sp>
      <p:sp>
        <p:nvSpPr>
          <p:cNvPr id="11" name="TextBox 10">
            <a:extLst>
              <a:ext uri="{FF2B5EF4-FFF2-40B4-BE49-F238E27FC236}">
                <a16:creationId xmlns:a16="http://schemas.microsoft.com/office/drawing/2014/main" id="{882E25C3-2802-EDD5-E53A-D950FEB906B5}"/>
              </a:ext>
            </a:extLst>
          </p:cNvPr>
          <p:cNvSpPr txBox="1"/>
          <p:nvPr/>
        </p:nvSpPr>
        <p:spPr>
          <a:xfrm>
            <a:off x="457691" y="5380672"/>
            <a:ext cx="11277109"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mj-lt"/>
              </a:rPr>
              <a:t>Finance and IT departments have the highest number of employees, with 9 employees each, making them the largest departments in the organization.</a:t>
            </a:r>
          </a:p>
        </p:txBody>
      </p:sp>
    </p:spTree>
    <p:extLst>
      <p:ext uri="{BB962C8B-B14F-4D97-AF65-F5344CB8AC3E}">
        <p14:creationId xmlns:p14="http://schemas.microsoft.com/office/powerpoint/2010/main" val="2109812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28F9EF0-D2BD-DFEF-80FE-02EBDA5A0CFD}"/>
              </a:ext>
            </a:extLst>
          </p:cNvPr>
          <p:cNvSpPr/>
          <p:nvPr/>
        </p:nvSpPr>
        <p:spPr>
          <a:xfrm>
            <a:off x="685800" y="381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n-lt"/>
                <a:ea typeface="+mn-ea"/>
                <a:cs typeface="+mn-cs"/>
              </a:rPr>
              <a:t>What is the average salary per department?</a:t>
            </a:r>
            <a:endParaRPr lang="en-IN" b="1" dirty="0">
              <a:solidFill>
                <a:schemeClr val="tx1"/>
              </a:solidFill>
            </a:endParaRPr>
          </a:p>
        </p:txBody>
      </p:sp>
      <p:pic>
        <p:nvPicPr>
          <p:cNvPr id="9" name="Picture 8">
            <a:extLst>
              <a:ext uri="{FF2B5EF4-FFF2-40B4-BE49-F238E27FC236}">
                <a16:creationId xmlns:a16="http://schemas.microsoft.com/office/drawing/2014/main" id="{8252A45E-B704-D5A0-6A69-496C6A8393A3}"/>
              </a:ext>
            </a:extLst>
          </p:cNvPr>
          <p:cNvPicPr>
            <a:picLocks noChangeAspect="1"/>
          </p:cNvPicPr>
          <p:nvPr/>
        </p:nvPicPr>
        <p:blipFill>
          <a:blip r:embed="rId3"/>
          <a:stretch>
            <a:fillRect/>
          </a:stretch>
        </p:blipFill>
        <p:spPr>
          <a:xfrm>
            <a:off x="721688" y="1219200"/>
            <a:ext cx="9926435" cy="2514600"/>
          </a:xfrm>
          <a:prstGeom prst="rect">
            <a:avLst/>
          </a:prstGeom>
        </p:spPr>
      </p:pic>
      <p:sp>
        <p:nvSpPr>
          <p:cNvPr id="10" name="TextBox 9">
            <a:extLst>
              <a:ext uri="{FF2B5EF4-FFF2-40B4-BE49-F238E27FC236}">
                <a16:creationId xmlns:a16="http://schemas.microsoft.com/office/drawing/2014/main" id="{18F96C61-3E30-28B4-5C41-B41954B79977}"/>
              </a:ext>
            </a:extLst>
          </p:cNvPr>
          <p:cNvSpPr txBox="1"/>
          <p:nvPr/>
        </p:nvSpPr>
        <p:spPr>
          <a:xfrm>
            <a:off x="6477000" y="1920336"/>
            <a:ext cx="914400" cy="369332"/>
          </a:xfrm>
          <a:prstGeom prst="rect">
            <a:avLst/>
          </a:prstGeom>
          <a:noFill/>
        </p:spPr>
        <p:txBody>
          <a:bodyPr wrap="square" rtlCol="0">
            <a:spAutoFit/>
          </a:bodyPr>
          <a:lstStyle/>
          <a:p>
            <a:r>
              <a:rPr lang="en-IN" b="1" dirty="0">
                <a:latin typeface="+mj-lt"/>
              </a:rPr>
              <a:t>Result:</a:t>
            </a:r>
          </a:p>
        </p:txBody>
      </p:sp>
      <p:pic>
        <p:nvPicPr>
          <p:cNvPr id="12" name="Picture 11">
            <a:extLst>
              <a:ext uri="{FF2B5EF4-FFF2-40B4-BE49-F238E27FC236}">
                <a16:creationId xmlns:a16="http://schemas.microsoft.com/office/drawing/2014/main" id="{DDB09CD6-D841-E376-0BBA-4040A8890740}"/>
              </a:ext>
            </a:extLst>
          </p:cNvPr>
          <p:cNvPicPr>
            <a:picLocks noChangeAspect="1"/>
          </p:cNvPicPr>
          <p:nvPr/>
        </p:nvPicPr>
        <p:blipFill>
          <a:blip r:embed="rId4"/>
          <a:stretch>
            <a:fillRect/>
          </a:stretch>
        </p:blipFill>
        <p:spPr>
          <a:xfrm>
            <a:off x="6553200" y="2305400"/>
            <a:ext cx="3715268" cy="3096057"/>
          </a:xfrm>
          <a:prstGeom prst="rect">
            <a:avLst/>
          </a:prstGeom>
        </p:spPr>
      </p:pic>
      <p:sp>
        <p:nvSpPr>
          <p:cNvPr id="13" name="TextBox 12">
            <a:extLst>
              <a:ext uri="{FF2B5EF4-FFF2-40B4-BE49-F238E27FC236}">
                <a16:creationId xmlns:a16="http://schemas.microsoft.com/office/drawing/2014/main" id="{62E89D05-E5F0-6894-2A81-C5903277294D}"/>
              </a:ext>
            </a:extLst>
          </p:cNvPr>
          <p:cNvSpPr txBox="1"/>
          <p:nvPr/>
        </p:nvSpPr>
        <p:spPr>
          <a:xfrm>
            <a:off x="228600" y="5486400"/>
            <a:ext cx="10972800"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mj-lt"/>
              </a:rPr>
              <a:t>The Legal department has the highest average salary, followed by Engineering and Sales, while HR has the lowest average salary among all departments.</a:t>
            </a:r>
            <a:endParaRPr lang="en-IN" dirty="0">
              <a:latin typeface="+mj-lt"/>
            </a:endParaRPr>
          </a:p>
        </p:txBody>
      </p:sp>
    </p:spTree>
    <p:extLst>
      <p:ext uri="{BB962C8B-B14F-4D97-AF65-F5344CB8AC3E}">
        <p14:creationId xmlns:p14="http://schemas.microsoft.com/office/powerpoint/2010/main" val="333141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4FE93D9-060D-82CA-A966-CA478BC88605}"/>
              </a:ext>
            </a:extLst>
          </p:cNvPr>
          <p:cNvSpPr/>
          <p:nvPr/>
        </p:nvSpPr>
        <p:spPr>
          <a:xfrm>
            <a:off x="685800" y="381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n-lt"/>
                <a:ea typeface="+mn-ea"/>
                <a:cs typeface="+mn-cs"/>
              </a:rPr>
              <a:t>Who are the top 5 highest-paid employees?</a:t>
            </a:r>
            <a:endParaRPr lang="en-IN" b="1" dirty="0">
              <a:solidFill>
                <a:schemeClr val="tx1"/>
              </a:solidFill>
            </a:endParaRPr>
          </a:p>
        </p:txBody>
      </p:sp>
      <p:pic>
        <p:nvPicPr>
          <p:cNvPr id="6" name="Picture 5">
            <a:extLst>
              <a:ext uri="{FF2B5EF4-FFF2-40B4-BE49-F238E27FC236}">
                <a16:creationId xmlns:a16="http://schemas.microsoft.com/office/drawing/2014/main" id="{86A6477E-AC23-2F62-FE13-2C36347DD847}"/>
              </a:ext>
            </a:extLst>
          </p:cNvPr>
          <p:cNvPicPr>
            <a:picLocks noChangeAspect="1"/>
          </p:cNvPicPr>
          <p:nvPr/>
        </p:nvPicPr>
        <p:blipFill>
          <a:blip r:embed="rId2"/>
          <a:stretch>
            <a:fillRect/>
          </a:stretch>
        </p:blipFill>
        <p:spPr>
          <a:xfrm>
            <a:off x="685800" y="1143000"/>
            <a:ext cx="8402223" cy="2848373"/>
          </a:xfrm>
          <a:prstGeom prst="rect">
            <a:avLst/>
          </a:prstGeom>
        </p:spPr>
      </p:pic>
      <p:sp>
        <p:nvSpPr>
          <p:cNvPr id="7" name="TextBox 6">
            <a:extLst>
              <a:ext uri="{FF2B5EF4-FFF2-40B4-BE49-F238E27FC236}">
                <a16:creationId xmlns:a16="http://schemas.microsoft.com/office/drawing/2014/main" id="{8583968C-E2DF-84BD-D6B3-413619C5F3F1}"/>
              </a:ext>
            </a:extLst>
          </p:cNvPr>
          <p:cNvSpPr txBox="1"/>
          <p:nvPr/>
        </p:nvSpPr>
        <p:spPr>
          <a:xfrm>
            <a:off x="5943600" y="2286000"/>
            <a:ext cx="914400" cy="369332"/>
          </a:xfrm>
          <a:prstGeom prst="rect">
            <a:avLst/>
          </a:prstGeom>
          <a:noFill/>
        </p:spPr>
        <p:txBody>
          <a:bodyPr wrap="square" rtlCol="0">
            <a:spAutoFit/>
          </a:bodyPr>
          <a:lstStyle/>
          <a:p>
            <a:r>
              <a:rPr lang="en-IN" b="1" dirty="0">
                <a:latin typeface="+mj-lt"/>
              </a:rPr>
              <a:t>Result:</a:t>
            </a:r>
          </a:p>
        </p:txBody>
      </p:sp>
      <p:pic>
        <p:nvPicPr>
          <p:cNvPr id="9" name="Picture 8">
            <a:extLst>
              <a:ext uri="{FF2B5EF4-FFF2-40B4-BE49-F238E27FC236}">
                <a16:creationId xmlns:a16="http://schemas.microsoft.com/office/drawing/2014/main" id="{E30D8C01-88B8-B649-C8C5-2885AD3956C5}"/>
              </a:ext>
            </a:extLst>
          </p:cNvPr>
          <p:cNvPicPr>
            <a:picLocks noChangeAspect="1"/>
          </p:cNvPicPr>
          <p:nvPr/>
        </p:nvPicPr>
        <p:blipFill>
          <a:blip r:embed="rId3"/>
          <a:stretch>
            <a:fillRect/>
          </a:stretch>
        </p:blipFill>
        <p:spPr>
          <a:xfrm>
            <a:off x="6014171" y="2667000"/>
            <a:ext cx="5106113" cy="2029108"/>
          </a:xfrm>
          <a:prstGeom prst="rect">
            <a:avLst/>
          </a:prstGeom>
        </p:spPr>
      </p:pic>
    </p:spTree>
    <p:extLst>
      <p:ext uri="{BB962C8B-B14F-4D97-AF65-F5344CB8AC3E}">
        <p14:creationId xmlns:p14="http://schemas.microsoft.com/office/powerpoint/2010/main" val="601427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C2E98E-B10A-8973-C530-B2AC918EAC87}"/>
              </a:ext>
            </a:extLst>
          </p:cNvPr>
          <p:cNvSpPr/>
          <p:nvPr/>
        </p:nvSpPr>
        <p:spPr>
          <a:xfrm>
            <a:off x="685800" y="381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n-lt"/>
                <a:ea typeface="+mn-ea"/>
                <a:cs typeface="+mn-cs"/>
              </a:rPr>
              <a:t>What is the total salary expenditure across the company?</a:t>
            </a:r>
            <a:endParaRPr lang="en-IN" b="1" dirty="0">
              <a:solidFill>
                <a:schemeClr val="tx1"/>
              </a:solidFill>
            </a:endParaRPr>
          </a:p>
        </p:txBody>
      </p:sp>
      <p:pic>
        <p:nvPicPr>
          <p:cNvPr id="6" name="Picture 5">
            <a:extLst>
              <a:ext uri="{FF2B5EF4-FFF2-40B4-BE49-F238E27FC236}">
                <a16:creationId xmlns:a16="http://schemas.microsoft.com/office/drawing/2014/main" id="{4936BA28-3F30-8EB5-2A6C-ECE4DE85EFEC}"/>
              </a:ext>
            </a:extLst>
          </p:cNvPr>
          <p:cNvPicPr>
            <a:picLocks noChangeAspect="1"/>
          </p:cNvPicPr>
          <p:nvPr/>
        </p:nvPicPr>
        <p:blipFill>
          <a:blip r:embed="rId2"/>
          <a:stretch>
            <a:fillRect/>
          </a:stretch>
        </p:blipFill>
        <p:spPr>
          <a:xfrm>
            <a:off x="685800" y="1371600"/>
            <a:ext cx="8268854" cy="990600"/>
          </a:xfrm>
          <a:prstGeom prst="rect">
            <a:avLst/>
          </a:prstGeom>
        </p:spPr>
      </p:pic>
      <p:sp>
        <p:nvSpPr>
          <p:cNvPr id="7" name="TextBox 6">
            <a:extLst>
              <a:ext uri="{FF2B5EF4-FFF2-40B4-BE49-F238E27FC236}">
                <a16:creationId xmlns:a16="http://schemas.microsoft.com/office/drawing/2014/main" id="{0FCB9402-EBD0-3365-6230-A72981C7275D}"/>
              </a:ext>
            </a:extLst>
          </p:cNvPr>
          <p:cNvSpPr txBox="1"/>
          <p:nvPr/>
        </p:nvSpPr>
        <p:spPr>
          <a:xfrm>
            <a:off x="655320" y="2491026"/>
            <a:ext cx="914400" cy="369332"/>
          </a:xfrm>
          <a:prstGeom prst="rect">
            <a:avLst/>
          </a:prstGeom>
          <a:noFill/>
        </p:spPr>
        <p:txBody>
          <a:bodyPr wrap="square" rtlCol="0">
            <a:spAutoFit/>
          </a:bodyPr>
          <a:lstStyle/>
          <a:p>
            <a:r>
              <a:rPr lang="en-IN" b="1" dirty="0">
                <a:latin typeface="+mj-lt"/>
              </a:rPr>
              <a:t>Result:</a:t>
            </a:r>
          </a:p>
        </p:txBody>
      </p:sp>
      <p:pic>
        <p:nvPicPr>
          <p:cNvPr id="9" name="Picture 8">
            <a:extLst>
              <a:ext uri="{FF2B5EF4-FFF2-40B4-BE49-F238E27FC236}">
                <a16:creationId xmlns:a16="http://schemas.microsoft.com/office/drawing/2014/main" id="{4AA3A6A3-C875-0548-61BB-AE7DD06CDBB7}"/>
              </a:ext>
            </a:extLst>
          </p:cNvPr>
          <p:cNvPicPr>
            <a:picLocks noChangeAspect="1"/>
          </p:cNvPicPr>
          <p:nvPr/>
        </p:nvPicPr>
        <p:blipFill>
          <a:blip r:embed="rId3"/>
          <a:stretch>
            <a:fillRect/>
          </a:stretch>
        </p:blipFill>
        <p:spPr>
          <a:xfrm>
            <a:off x="699565" y="2971800"/>
            <a:ext cx="3277057" cy="752580"/>
          </a:xfrm>
          <a:prstGeom prst="rect">
            <a:avLst/>
          </a:prstGeom>
        </p:spPr>
      </p:pic>
      <p:sp>
        <p:nvSpPr>
          <p:cNvPr id="10" name="TextBox 9">
            <a:extLst>
              <a:ext uri="{FF2B5EF4-FFF2-40B4-BE49-F238E27FC236}">
                <a16:creationId xmlns:a16="http://schemas.microsoft.com/office/drawing/2014/main" id="{F9C14D65-A180-1EC4-EF9E-8CCEE44B4050}"/>
              </a:ext>
            </a:extLst>
          </p:cNvPr>
          <p:cNvSpPr txBox="1"/>
          <p:nvPr/>
        </p:nvSpPr>
        <p:spPr>
          <a:xfrm>
            <a:off x="626806" y="3962400"/>
            <a:ext cx="10726994"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mj-lt"/>
              </a:rPr>
              <a:t>The total salary expenditure across the company amounts to 2,778,000, indicating the overall payroll cost incurred by the organization for employee compensation.</a:t>
            </a:r>
          </a:p>
        </p:txBody>
      </p:sp>
    </p:spTree>
    <p:extLst>
      <p:ext uri="{BB962C8B-B14F-4D97-AF65-F5344CB8AC3E}">
        <p14:creationId xmlns:p14="http://schemas.microsoft.com/office/powerpoint/2010/main" val="2235216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744C5-2B91-93B7-B59E-5E3116288090}"/>
              </a:ext>
            </a:extLst>
          </p:cNvPr>
          <p:cNvSpPr>
            <a:spLocks noGrp="1"/>
          </p:cNvSpPr>
          <p:nvPr>
            <p:ph type="title"/>
          </p:nvPr>
        </p:nvSpPr>
        <p:spPr>
          <a:xfrm>
            <a:off x="281496" y="290587"/>
            <a:ext cx="10157903" cy="1354217"/>
          </a:xfrm>
        </p:spPr>
        <p:txBody>
          <a:bodyPr/>
          <a:lstStyle/>
          <a:p>
            <a:r>
              <a:rPr lang="en-US" dirty="0"/>
              <a:t>JOB ROLE AND DEPARTMENT ANALYSIS</a:t>
            </a:r>
            <a:endParaRPr lang="en-IN" dirty="0"/>
          </a:p>
        </p:txBody>
      </p:sp>
      <p:sp>
        <p:nvSpPr>
          <p:cNvPr id="4" name="Rectangle 3">
            <a:extLst>
              <a:ext uri="{FF2B5EF4-FFF2-40B4-BE49-F238E27FC236}">
                <a16:creationId xmlns:a16="http://schemas.microsoft.com/office/drawing/2014/main" id="{E2BBAE03-D9FA-95FB-B77D-DD64E3BB07F1}"/>
              </a:ext>
            </a:extLst>
          </p:cNvPr>
          <p:cNvSpPr/>
          <p:nvPr/>
        </p:nvSpPr>
        <p:spPr>
          <a:xfrm>
            <a:off x="457200" y="1143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n-lt"/>
                <a:ea typeface="+mn-ea"/>
                <a:cs typeface="+mn-cs"/>
              </a:rPr>
              <a:t>How many different job roles exist in each department?</a:t>
            </a:r>
            <a:endParaRPr lang="en-IN" b="1" dirty="0">
              <a:solidFill>
                <a:schemeClr val="tx1"/>
              </a:solidFill>
            </a:endParaRPr>
          </a:p>
        </p:txBody>
      </p:sp>
      <p:pic>
        <p:nvPicPr>
          <p:cNvPr id="6" name="Picture 5">
            <a:extLst>
              <a:ext uri="{FF2B5EF4-FFF2-40B4-BE49-F238E27FC236}">
                <a16:creationId xmlns:a16="http://schemas.microsoft.com/office/drawing/2014/main" id="{3119B9C5-BA60-53FA-8A33-8EAF4C86948A}"/>
              </a:ext>
            </a:extLst>
          </p:cNvPr>
          <p:cNvPicPr>
            <a:picLocks noChangeAspect="1"/>
          </p:cNvPicPr>
          <p:nvPr/>
        </p:nvPicPr>
        <p:blipFill>
          <a:blip r:embed="rId2"/>
          <a:stretch>
            <a:fillRect/>
          </a:stretch>
        </p:blipFill>
        <p:spPr>
          <a:xfrm>
            <a:off x="609600" y="1934230"/>
            <a:ext cx="9726382" cy="1476581"/>
          </a:xfrm>
          <a:prstGeom prst="rect">
            <a:avLst/>
          </a:prstGeom>
        </p:spPr>
      </p:pic>
      <p:sp>
        <p:nvSpPr>
          <p:cNvPr id="7" name="TextBox 6">
            <a:extLst>
              <a:ext uri="{FF2B5EF4-FFF2-40B4-BE49-F238E27FC236}">
                <a16:creationId xmlns:a16="http://schemas.microsoft.com/office/drawing/2014/main" id="{B2CFF9E2-D89C-4A72-BF5E-EE05026407EA}"/>
              </a:ext>
            </a:extLst>
          </p:cNvPr>
          <p:cNvSpPr txBox="1"/>
          <p:nvPr/>
        </p:nvSpPr>
        <p:spPr>
          <a:xfrm>
            <a:off x="6781800" y="2630196"/>
            <a:ext cx="914400" cy="369332"/>
          </a:xfrm>
          <a:prstGeom prst="rect">
            <a:avLst/>
          </a:prstGeom>
          <a:noFill/>
        </p:spPr>
        <p:txBody>
          <a:bodyPr wrap="square" rtlCol="0">
            <a:spAutoFit/>
          </a:bodyPr>
          <a:lstStyle/>
          <a:p>
            <a:r>
              <a:rPr lang="en-IN" b="1" dirty="0">
                <a:latin typeface="+mj-lt"/>
              </a:rPr>
              <a:t>Result:</a:t>
            </a:r>
          </a:p>
        </p:txBody>
      </p:sp>
      <p:pic>
        <p:nvPicPr>
          <p:cNvPr id="5" name="Picture 4">
            <a:extLst>
              <a:ext uri="{FF2B5EF4-FFF2-40B4-BE49-F238E27FC236}">
                <a16:creationId xmlns:a16="http://schemas.microsoft.com/office/drawing/2014/main" id="{42AE9832-B6FB-156C-CD25-24DAA92427DC}"/>
              </a:ext>
            </a:extLst>
          </p:cNvPr>
          <p:cNvPicPr>
            <a:picLocks noChangeAspect="1"/>
          </p:cNvPicPr>
          <p:nvPr/>
        </p:nvPicPr>
        <p:blipFill>
          <a:blip r:embed="rId3"/>
          <a:stretch>
            <a:fillRect/>
          </a:stretch>
        </p:blipFill>
        <p:spPr>
          <a:xfrm>
            <a:off x="6934200" y="3048000"/>
            <a:ext cx="3962400" cy="2424593"/>
          </a:xfrm>
          <a:prstGeom prst="rect">
            <a:avLst/>
          </a:prstGeom>
        </p:spPr>
      </p:pic>
    </p:spTree>
    <p:extLst>
      <p:ext uri="{BB962C8B-B14F-4D97-AF65-F5344CB8AC3E}">
        <p14:creationId xmlns:p14="http://schemas.microsoft.com/office/powerpoint/2010/main" val="19667089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BD30AF8-4AE5-C32C-D6A1-1115284EA8C1}"/>
              </a:ext>
            </a:extLst>
          </p:cNvPr>
          <p:cNvSpPr/>
          <p:nvPr/>
        </p:nvSpPr>
        <p:spPr>
          <a:xfrm>
            <a:off x="609600" y="381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n-lt"/>
                <a:ea typeface="+mn-ea"/>
                <a:cs typeface="+mn-cs"/>
              </a:rPr>
              <a:t>What is the average salary range per department?</a:t>
            </a:r>
            <a:endParaRPr lang="en-IN" b="1" dirty="0">
              <a:solidFill>
                <a:schemeClr val="tx1"/>
              </a:solidFill>
            </a:endParaRPr>
          </a:p>
        </p:txBody>
      </p:sp>
      <p:pic>
        <p:nvPicPr>
          <p:cNvPr id="8" name="Picture 7">
            <a:extLst>
              <a:ext uri="{FF2B5EF4-FFF2-40B4-BE49-F238E27FC236}">
                <a16:creationId xmlns:a16="http://schemas.microsoft.com/office/drawing/2014/main" id="{5524A13B-846E-C90E-56F4-92D06A0E0E78}"/>
              </a:ext>
            </a:extLst>
          </p:cNvPr>
          <p:cNvPicPr>
            <a:picLocks noChangeAspect="1"/>
          </p:cNvPicPr>
          <p:nvPr/>
        </p:nvPicPr>
        <p:blipFill>
          <a:blip r:embed="rId2"/>
          <a:stretch>
            <a:fillRect/>
          </a:stretch>
        </p:blipFill>
        <p:spPr>
          <a:xfrm>
            <a:off x="601243" y="1295400"/>
            <a:ext cx="9878804" cy="2267266"/>
          </a:xfrm>
          <a:prstGeom prst="rect">
            <a:avLst/>
          </a:prstGeom>
        </p:spPr>
      </p:pic>
      <p:sp>
        <p:nvSpPr>
          <p:cNvPr id="9" name="TextBox 8">
            <a:extLst>
              <a:ext uri="{FF2B5EF4-FFF2-40B4-BE49-F238E27FC236}">
                <a16:creationId xmlns:a16="http://schemas.microsoft.com/office/drawing/2014/main" id="{AA757517-F58D-444F-9DA6-203652542DB1}"/>
              </a:ext>
            </a:extLst>
          </p:cNvPr>
          <p:cNvSpPr txBox="1"/>
          <p:nvPr/>
        </p:nvSpPr>
        <p:spPr>
          <a:xfrm>
            <a:off x="5638800" y="2514600"/>
            <a:ext cx="914400" cy="369332"/>
          </a:xfrm>
          <a:prstGeom prst="rect">
            <a:avLst/>
          </a:prstGeom>
          <a:noFill/>
        </p:spPr>
        <p:txBody>
          <a:bodyPr wrap="square" rtlCol="0">
            <a:spAutoFit/>
          </a:bodyPr>
          <a:lstStyle/>
          <a:p>
            <a:r>
              <a:rPr lang="en-IN" b="1" dirty="0">
                <a:latin typeface="+mj-lt"/>
              </a:rPr>
              <a:t>Result:</a:t>
            </a:r>
          </a:p>
        </p:txBody>
      </p:sp>
      <p:pic>
        <p:nvPicPr>
          <p:cNvPr id="11" name="Picture 10">
            <a:extLst>
              <a:ext uri="{FF2B5EF4-FFF2-40B4-BE49-F238E27FC236}">
                <a16:creationId xmlns:a16="http://schemas.microsoft.com/office/drawing/2014/main" id="{B7512483-C1F1-C522-FD62-C294D0FE206A}"/>
              </a:ext>
            </a:extLst>
          </p:cNvPr>
          <p:cNvPicPr>
            <a:picLocks noChangeAspect="1"/>
          </p:cNvPicPr>
          <p:nvPr/>
        </p:nvPicPr>
        <p:blipFill>
          <a:blip r:embed="rId3"/>
          <a:stretch>
            <a:fillRect/>
          </a:stretch>
        </p:blipFill>
        <p:spPr>
          <a:xfrm>
            <a:off x="5791200" y="2888848"/>
            <a:ext cx="3829584" cy="3124636"/>
          </a:xfrm>
          <a:prstGeom prst="rect">
            <a:avLst/>
          </a:prstGeom>
        </p:spPr>
      </p:pic>
    </p:spTree>
    <p:extLst>
      <p:ext uri="{BB962C8B-B14F-4D97-AF65-F5344CB8AC3E}">
        <p14:creationId xmlns:p14="http://schemas.microsoft.com/office/powerpoint/2010/main" val="3982568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5772240-A2BB-C49F-8AFB-F7309BED9449}"/>
              </a:ext>
            </a:extLst>
          </p:cNvPr>
          <p:cNvSpPr/>
          <p:nvPr/>
        </p:nvSpPr>
        <p:spPr>
          <a:xfrm>
            <a:off x="609600" y="381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n-lt"/>
                <a:ea typeface="+mn-ea"/>
                <a:cs typeface="+mn-cs"/>
              </a:rPr>
              <a:t>Which job roles offer the highest salary?</a:t>
            </a:r>
            <a:endParaRPr lang="en-IN" b="1" dirty="0">
              <a:solidFill>
                <a:schemeClr val="tx1"/>
              </a:solidFill>
            </a:endParaRPr>
          </a:p>
        </p:txBody>
      </p:sp>
      <p:pic>
        <p:nvPicPr>
          <p:cNvPr id="8" name="Picture 7">
            <a:extLst>
              <a:ext uri="{FF2B5EF4-FFF2-40B4-BE49-F238E27FC236}">
                <a16:creationId xmlns:a16="http://schemas.microsoft.com/office/drawing/2014/main" id="{81E66AD0-37F8-B2ED-978B-3C853FC360AD}"/>
              </a:ext>
            </a:extLst>
          </p:cNvPr>
          <p:cNvPicPr>
            <a:picLocks noChangeAspect="1"/>
          </p:cNvPicPr>
          <p:nvPr/>
        </p:nvPicPr>
        <p:blipFill>
          <a:blip r:embed="rId3"/>
          <a:stretch>
            <a:fillRect/>
          </a:stretch>
        </p:blipFill>
        <p:spPr>
          <a:xfrm>
            <a:off x="609600" y="1295400"/>
            <a:ext cx="4858428" cy="3077004"/>
          </a:xfrm>
          <a:prstGeom prst="rect">
            <a:avLst/>
          </a:prstGeom>
        </p:spPr>
      </p:pic>
      <p:sp>
        <p:nvSpPr>
          <p:cNvPr id="9" name="TextBox 8">
            <a:extLst>
              <a:ext uri="{FF2B5EF4-FFF2-40B4-BE49-F238E27FC236}">
                <a16:creationId xmlns:a16="http://schemas.microsoft.com/office/drawing/2014/main" id="{1F3B8DA5-94CD-D115-72F1-EC6C0E40553F}"/>
              </a:ext>
            </a:extLst>
          </p:cNvPr>
          <p:cNvSpPr txBox="1"/>
          <p:nvPr/>
        </p:nvSpPr>
        <p:spPr>
          <a:xfrm>
            <a:off x="5809574" y="1295400"/>
            <a:ext cx="914400" cy="369332"/>
          </a:xfrm>
          <a:prstGeom prst="rect">
            <a:avLst/>
          </a:prstGeom>
          <a:noFill/>
        </p:spPr>
        <p:txBody>
          <a:bodyPr wrap="square" rtlCol="0">
            <a:spAutoFit/>
          </a:bodyPr>
          <a:lstStyle/>
          <a:p>
            <a:r>
              <a:rPr lang="en-IN" b="1" dirty="0">
                <a:latin typeface="+mj-lt"/>
              </a:rPr>
              <a:t>Result:</a:t>
            </a:r>
          </a:p>
        </p:txBody>
      </p:sp>
      <p:pic>
        <p:nvPicPr>
          <p:cNvPr id="11" name="Picture 10">
            <a:extLst>
              <a:ext uri="{FF2B5EF4-FFF2-40B4-BE49-F238E27FC236}">
                <a16:creationId xmlns:a16="http://schemas.microsoft.com/office/drawing/2014/main" id="{942C5ADC-A70E-6146-BCD2-EB3C1AA35818}"/>
              </a:ext>
            </a:extLst>
          </p:cNvPr>
          <p:cNvPicPr>
            <a:picLocks noChangeAspect="1"/>
          </p:cNvPicPr>
          <p:nvPr/>
        </p:nvPicPr>
        <p:blipFill>
          <a:blip r:embed="rId4"/>
          <a:stretch>
            <a:fillRect/>
          </a:stretch>
        </p:blipFill>
        <p:spPr>
          <a:xfrm>
            <a:off x="5943600" y="1752600"/>
            <a:ext cx="3877216" cy="800212"/>
          </a:xfrm>
          <a:prstGeom prst="rect">
            <a:avLst/>
          </a:prstGeom>
        </p:spPr>
      </p:pic>
      <p:sp>
        <p:nvSpPr>
          <p:cNvPr id="12" name="TextBox 11">
            <a:extLst>
              <a:ext uri="{FF2B5EF4-FFF2-40B4-BE49-F238E27FC236}">
                <a16:creationId xmlns:a16="http://schemas.microsoft.com/office/drawing/2014/main" id="{4176C35A-4D33-7228-440B-9E2F3511D1DD}"/>
              </a:ext>
            </a:extLst>
          </p:cNvPr>
          <p:cNvSpPr txBox="1"/>
          <p:nvPr/>
        </p:nvSpPr>
        <p:spPr>
          <a:xfrm>
            <a:off x="381983" y="4605231"/>
            <a:ext cx="11048017"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latin typeface="+mj-lt"/>
              </a:rPr>
              <a:t>The Finance Director role offers the highest salary in the organization, with an annual compensation of 2,040,000, indicating it is the top-paying job position.</a:t>
            </a:r>
            <a:endParaRPr lang="en-IN" dirty="0">
              <a:latin typeface="+mj-lt"/>
            </a:endParaRPr>
          </a:p>
        </p:txBody>
      </p:sp>
    </p:spTree>
    <p:extLst>
      <p:ext uri="{BB962C8B-B14F-4D97-AF65-F5344CB8AC3E}">
        <p14:creationId xmlns:p14="http://schemas.microsoft.com/office/powerpoint/2010/main" val="327385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8B8B36-D6C9-17FE-EA63-A94CA8FA00B1}"/>
              </a:ext>
            </a:extLst>
          </p:cNvPr>
          <p:cNvSpPr/>
          <p:nvPr/>
        </p:nvSpPr>
        <p:spPr>
          <a:xfrm>
            <a:off x="609600" y="3810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Which departments have the highest total salary allocation?</a:t>
            </a:r>
          </a:p>
        </p:txBody>
      </p:sp>
      <p:pic>
        <p:nvPicPr>
          <p:cNvPr id="8" name="Picture 7">
            <a:extLst>
              <a:ext uri="{FF2B5EF4-FFF2-40B4-BE49-F238E27FC236}">
                <a16:creationId xmlns:a16="http://schemas.microsoft.com/office/drawing/2014/main" id="{DCBE95D7-46A8-C4FC-FCC7-744DA17287BE}"/>
              </a:ext>
            </a:extLst>
          </p:cNvPr>
          <p:cNvPicPr>
            <a:picLocks noChangeAspect="1"/>
          </p:cNvPicPr>
          <p:nvPr/>
        </p:nvPicPr>
        <p:blipFill>
          <a:blip r:embed="rId3"/>
          <a:stretch>
            <a:fillRect/>
          </a:stretch>
        </p:blipFill>
        <p:spPr>
          <a:xfrm>
            <a:off x="607142" y="1143000"/>
            <a:ext cx="8312556" cy="4243031"/>
          </a:xfrm>
          <a:prstGeom prst="rect">
            <a:avLst/>
          </a:prstGeom>
        </p:spPr>
      </p:pic>
      <p:sp>
        <p:nvSpPr>
          <p:cNvPr id="9" name="TextBox 8">
            <a:extLst>
              <a:ext uri="{FF2B5EF4-FFF2-40B4-BE49-F238E27FC236}">
                <a16:creationId xmlns:a16="http://schemas.microsoft.com/office/drawing/2014/main" id="{7233032E-5FF3-66B7-EA6B-4E44FA92BA35}"/>
              </a:ext>
            </a:extLst>
          </p:cNvPr>
          <p:cNvSpPr txBox="1"/>
          <p:nvPr/>
        </p:nvSpPr>
        <p:spPr>
          <a:xfrm>
            <a:off x="6324600" y="1752600"/>
            <a:ext cx="914400" cy="369332"/>
          </a:xfrm>
          <a:prstGeom prst="rect">
            <a:avLst/>
          </a:prstGeom>
          <a:noFill/>
        </p:spPr>
        <p:txBody>
          <a:bodyPr wrap="square" rtlCol="0">
            <a:spAutoFit/>
          </a:bodyPr>
          <a:lstStyle/>
          <a:p>
            <a:r>
              <a:rPr lang="en-IN" b="1" dirty="0">
                <a:latin typeface="+mj-lt"/>
              </a:rPr>
              <a:t>Result:</a:t>
            </a:r>
          </a:p>
        </p:txBody>
      </p:sp>
      <p:pic>
        <p:nvPicPr>
          <p:cNvPr id="11" name="Picture 10">
            <a:extLst>
              <a:ext uri="{FF2B5EF4-FFF2-40B4-BE49-F238E27FC236}">
                <a16:creationId xmlns:a16="http://schemas.microsoft.com/office/drawing/2014/main" id="{F45B4BF8-90B5-F637-7194-A277E412FFDF}"/>
              </a:ext>
            </a:extLst>
          </p:cNvPr>
          <p:cNvPicPr>
            <a:picLocks noChangeAspect="1"/>
          </p:cNvPicPr>
          <p:nvPr/>
        </p:nvPicPr>
        <p:blipFill>
          <a:blip r:embed="rId4"/>
          <a:stretch>
            <a:fillRect/>
          </a:stretch>
        </p:blipFill>
        <p:spPr>
          <a:xfrm>
            <a:off x="6447815" y="2034153"/>
            <a:ext cx="4372585" cy="819264"/>
          </a:xfrm>
          <a:prstGeom prst="rect">
            <a:avLst/>
          </a:prstGeom>
        </p:spPr>
      </p:pic>
      <p:sp>
        <p:nvSpPr>
          <p:cNvPr id="13" name="TextBox 12">
            <a:extLst>
              <a:ext uri="{FF2B5EF4-FFF2-40B4-BE49-F238E27FC236}">
                <a16:creationId xmlns:a16="http://schemas.microsoft.com/office/drawing/2014/main" id="{406B39C3-29A0-9B69-CB21-FEB91550AE56}"/>
              </a:ext>
            </a:extLst>
          </p:cNvPr>
          <p:cNvSpPr txBox="1"/>
          <p:nvPr/>
        </p:nvSpPr>
        <p:spPr>
          <a:xfrm>
            <a:off x="533400" y="5533966"/>
            <a:ext cx="11353800" cy="646331"/>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The Finance department has the highest total salary allocation in the organization, with a total expenditure of 7,812,000, indicating it accounts for the largest share of payroll costs.</a:t>
            </a:r>
            <a:endParaRPr lang="en-IN" dirty="0">
              <a:latin typeface="+mj-lt"/>
            </a:endParaRPr>
          </a:p>
        </p:txBody>
      </p:sp>
    </p:spTree>
    <p:extLst>
      <p:ext uri="{BB962C8B-B14F-4D97-AF65-F5344CB8AC3E}">
        <p14:creationId xmlns:p14="http://schemas.microsoft.com/office/powerpoint/2010/main" val="304792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B014F-D3D6-A89A-257F-40FEBB40C8F0}"/>
              </a:ext>
            </a:extLst>
          </p:cNvPr>
          <p:cNvSpPr>
            <a:spLocks noGrp="1"/>
          </p:cNvSpPr>
          <p:nvPr>
            <p:ph type="title"/>
          </p:nvPr>
        </p:nvSpPr>
        <p:spPr>
          <a:xfrm>
            <a:off x="281496" y="290587"/>
            <a:ext cx="10157903" cy="1354217"/>
          </a:xfrm>
        </p:spPr>
        <p:txBody>
          <a:bodyPr/>
          <a:lstStyle/>
          <a:p>
            <a:r>
              <a:rPr lang="en-US" dirty="0"/>
              <a:t>3. QUALIFICATION AND SKILLS ANALYSIS</a:t>
            </a:r>
            <a:endParaRPr lang="en-IN" dirty="0"/>
          </a:p>
        </p:txBody>
      </p:sp>
      <p:sp>
        <p:nvSpPr>
          <p:cNvPr id="4" name="Rectangle 3">
            <a:extLst>
              <a:ext uri="{FF2B5EF4-FFF2-40B4-BE49-F238E27FC236}">
                <a16:creationId xmlns:a16="http://schemas.microsoft.com/office/drawing/2014/main" id="{A7050942-2882-12DF-B9F6-FD3D3F314DFD}"/>
              </a:ext>
            </a:extLst>
          </p:cNvPr>
          <p:cNvSpPr/>
          <p:nvPr/>
        </p:nvSpPr>
        <p:spPr>
          <a:xfrm>
            <a:off x="439502" y="1021594"/>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How many employees have at least one qualification listed?</a:t>
            </a:r>
          </a:p>
        </p:txBody>
      </p:sp>
      <p:pic>
        <p:nvPicPr>
          <p:cNvPr id="8" name="Picture 7">
            <a:extLst>
              <a:ext uri="{FF2B5EF4-FFF2-40B4-BE49-F238E27FC236}">
                <a16:creationId xmlns:a16="http://schemas.microsoft.com/office/drawing/2014/main" id="{CE4EAF73-E54F-BA1C-9168-5DC7653F1622}"/>
              </a:ext>
            </a:extLst>
          </p:cNvPr>
          <p:cNvPicPr>
            <a:picLocks noChangeAspect="1"/>
          </p:cNvPicPr>
          <p:nvPr/>
        </p:nvPicPr>
        <p:blipFill>
          <a:blip r:embed="rId2"/>
          <a:stretch>
            <a:fillRect/>
          </a:stretch>
        </p:blipFill>
        <p:spPr>
          <a:xfrm>
            <a:off x="457200" y="1981200"/>
            <a:ext cx="6716062" cy="809738"/>
          </a:xfrm>
          <a:prstGeom prst="rect">
            <a:avLst/>
          </a:prstGeom>
        </p:spPr>
      </p:pic>
      <p:pic>
        <p:nvPicPr>
          <p:cNvPr id="10" name="Picture 9">
            <a:extLst>
              <a:ext uri="{FF2B5EF4-FFF2-40B4-BE49-F238E27FC236}">
                <a16:creationId xmlns:a16="http://schemas.microsoft.com/office/drawing/2014/main" id="{0A19CD28-6AA9-4E6B-3807-BF00B1190BF3}"/>
              </a:ext>
            </a:extLst>
          </p:cNvPr>
          <p:cNvPicPr>
            <a:picLocks noChangeAspect="1"/>
          </p:cNvPicPr>
          <p:nvPr/>
        </p:nvPicPr>
        <p:blipFill>
          <a:blip r:embed="rId3"/>
          <a:stretch>
            <a:fillRect/>
          </a:stretch>
        </p:blipFill>
        <p:spPr>
          <a:xfrm>
            <a:off x="533400" y="3238272"/>
            <a:ext cx="3458058" cy="828791"/>
          </a:xfrm>
          <a:prstGeom prst="rect">
            <a:avLst/>
          </a:prstGeom>
        </p:spPr>
      </p:pic>
      <p:sp>
        <p:nvSpPr>
          <p:cNvPr id="12" name="TextBox 11">
            <a:extLst>
              <a:ext uri="{FF2B5EF4-FFF2-40B4-BE49-F238E27FC236}">
                <a16:creationId xmlns:a16="http://schemas.microsoft.com/office/drawing/2014/main" id="{C3ABD084-4E9E-70A1-1A27-3048AC70404A}"/>
              </a:ext>
            </a:extLst>
          </p:cNvPr>
          <p:cNvSpPr txBox="1"/>
          <p:nvPr/>
        </p:nvSpPr>
        <p:spPr>
          <a:xfrm>
            <a:off x="457200" y="2819400"/>
            <a:ext cx="1295400" cy="369332"/>
          </a:xfrm>
          <a:prstGeom prst="rect">
            <a:avLst/>
          </a:prstGeom>
          <a:noFill/>
        </p:spPr>
        <p:txBody>
          <a:bodyPr wrap="square" rtlCol="0">
            <a:spAutoFit/>
          </a:bodyPr>
          <a:lstStyle/>
          <a:p>
            <a:r>
              <a:rPr lang="en-IN" b="1" dirty="0">
                <a:latin typeface="+mj-lt"/>
              </a:rPr>
              <a:t>Result:</a:t>
            </a:r>
          </a:p>
        </p:txBody>
      </p:sp>
      <p:sp>
        <p:nvSpPr>
          <p:cNvPr id="14" name="TextBox 13">
            <a:extLst>
              <a:ext uri="{FF2B5EF4-FFF2-40B4-BE49-F238E27FC236}">
                <a16:creationId xmlns:a16="http://schemas.microsoft.com/office/drawing/2014/main" id="{53D4552A-DC40-75F1-FE4F-7793E748D3DE}"/>
              </a:ext>
            </a:extLst>
          </p:cNvPr>
          <p:cNvSpPr txBox="1"/>
          <p:nvPr/>
        </p:nvSpPr>
        <p:spPr>
          <a:xfrm>
            <a:off x="457200" y="4191000"/>
            <a:ext cx="10896600" cy="646331"/>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All 60 employees in the organization have at least one qualification recorded, indicating complete qualification coverage across the workforce.</a:t>
            </a:r>
            <a:endParaRPr lang="en-IN" dirty="0">
              <a:latin typeface="+mj-lt"/>
            </a:endParaRPr>
          </a:p>
        </p:txBody>
      </p:sp>
    </p:spTree>
    <p:extLst>
      <p:ext uri="{BB962C8B-B14F-4D97-AF65-F5344CB8AC3E}">
        <p14:creationId xmlns:p14="http://schemas.microsoft.com/office/powerpoint/2010/main" val="1144597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2A8B6BF-89AA-56AA-DBD3-DAB642827160}"/>
              </a:ext>
            </a:extLst>
          </p:cNvPr>
          <p:cNvSpPr/>
          <p:nvPr/>
        </p:nvSpPr>
        <p:spPr>
          <a:xfrm>
            <a:off x="609600" y="4572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Which positions require the most qualifications?</a:t>
            </a:r>
          </a:p>
        </p:txBody>
      </p:sp>
      <p:pic>
        <p:nvPicPr>
          <p:cNvPr id="6" name="Picture 5">
            <a:extLst>
              <a:ext uri="{FF2B5EF4-FFF2-40B4-BE49-F238E27FC236}">
                <a16:creationId xmlns:a16="http://schemas.microsoft.com/office/drawing/2014/main" id="{F9866AAC-AF6E-E645-E1FA-9730D72B0EA0}"/>
              </a:ext>
            </a:extLst>
          </p:cNvPr>
          <p:cNvPicPr>
            <a:picLocks noChangeAspect="1"/>
          </p:cNvPicPr>
          <p:nvPr/>
        </p:nvPicPr>
        <p:blipFill>
          <a:blip r:embed="rId2"/>
          <a:stretch>
            <a:fillRect/>
          </a:stretch>
        </p:blipFill>
        <p:spPr>
          <a:xfrm>
            <a:off x="609600" y="1295400"/>
            <a:ext cx="7430537" cy="3572374"/>
          </a:xfrm>
          <a:prstGeom prst="rect">
            <a:avLst/>
          </a:prstGeom>
        </p:spPr>
      </p:pic>
      <p:pic>
        <p:nvPicPr>
          <p:cNvPr id="8" name="Picture 7">
            <a:extLst>
              <a:ext uri="{FF2B5EF4-FFF2-40B4-BE49-F238E27FC236}">
                <a16:creationId xmlns:a16="http://schemas.microsoft.com/office/drawing/2014/main" id="{4432927A-E5C5-0073-DB2A-61A9F679B467}"/>
              </a:ext>
            </a:extLst>
          </p:cNvPr>
          <p:cNvPicPr>
            <a:picLocks noChangeAspect="1"/>
          </p:cNvPicPr>
          <p:nvPr/>
        </p:nvPicPr>
        <p:blipFill>
          <a:blip r:embed="rId3"/>
          <a:stretch>
            <a:fillRect/>
          </a:stretch>
        </p:blipFill>
        <p:spPr>
          <a:xfrm>
            <a:off x="6477000" y="2209800"/>
            <a:ext cx="5001323" cy="3743847"/>
          </a:xfrm>
          <a:prstGeom prst="rect">
            <a:avLst/>
          </a:prstGeom>
        </p:spPr>
      </p:pic>
      <p:sp>
        <p:nvSpPr>
          <p:cNvPr id="9" name="TextBox 8">
            <a:extLst>
              <a:ext uri="{FF2B5EF4-FFF2-40B4-BE49-F238E27FC236}">
                <a16:creationId xmlns:a16="http://schemas.microsoft.com/office/drawing/2014/main" id="{8A29CB54-BCD2-2DEB-6784-331CD0D8DC4F}"/>
              </a:ext>
            </a:extLst>
          </p:cNvPr>
          <p:cNvSpPr txBox="1"/>
          <p:nvPr/>
        </p:nvSpPr>
        <p:spPr>
          <a:xfrm>
            <a:off x="6400800" y="1840468"/>
            <a:ext cx="914400" cy="369332"/>
          </a:xfrm>
          <a:prstGeom prst="rect">
            <a:avLst/>
          </a:prstGeom>
          <a:noFill/>
        </p:spPr>
        <p:txBody>
          <a:bodyPr wrap="square" rtlCol="0">
            <a:spAutoFit/>
          </a:bodyPr>
          <a:lstStyle/>
          <a:p>
            <a:r>
              <a:rPr lang="en-IN" b="1" dirty="0">
                <a:latin typeface="+mj-lt"/>
              </a:rPr>
              <a:t>Result:</a:t>
            </a:r>
          </a:p>
        </p:txBody>
      </p:sp>
    </p:spTree>
    <p:extLst>
      <p:ext uri="{BB962C8B-B14F-4D97-AF65-F5344CB8AC3E}">
        <p14:creationId xmlns:p14="http://schemas.microsoft.com/office/powerpoint/2010/main" val="4246759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BF2BF62-4710-3836-1B75-48AC15EE0901}"/>
              </a:ext>
            </a:extLst>
          </p:cNvPr>
          <p:cNvSpPr/>
          <p:nvPr/>
        </p:nvSpPr>
        <p:spPr>
          <a:xfrm>
            <a:off x="609600" y="6096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Which employees have the highest number of qualifications?</a:t>
            </a:r>
          </a:p>
        </p:txBody>
      </p:sp>
      <p:pic>
        <p:nvPicPr>
          <p:cNvPr id="6" name="Picture 5">
            <a:extLst>
              <a:ext uri="{FF2B5EF4-FFF2-40B4-BE49-F238E27FC236}">
                <a16:creationId xmlns:a16="http://schemas.microsoft.com/office/drawing/2014/main" id="{6BB87452-D820-2E53-51D9-E09FF114ECE4}"/>
              </a:ext>
            </a:extLst>
          </p:cNvPr>
          <p:cNvPicPr>
            <a:picLocks noChangeAspect="1"/>
          </p:cNvPicPr>
          <p:nvPr/>
        </p:nvPicPr>
        <p:blipFill>
          <a:blip r:embed="rId2"/>
          <a:stretch>
            <a:fillRect/>
          </a:stretch>
        </p:blipFill>
        <p:spPr>
          <a:xfrm>
            <a:off x="609600" y="1371601"/>
            <a:ext cx="10612331" cy="4267200"/>
          </a:xfrm>
          <a:prstGeom prst="rect">
            <a:avLst/>
          </a:prstGeom>
        </p:spPr>
      </p:pic>
      <p:pic>
        <p:nvPicPr>
          <p:cNvPr id="8" name="Picture 7">
            <a:extLst>
              <a:ext uri="{FF2B5EF4-FFF2-40B4-BE49-F238E27FC236}">
                <a16:creationId xmlns:a16="http://schemas.microsoft.com/office/drawing/2014/main" id="{B9D6B98A-4A9A-9274-E702-8BF9A24E6BAB}"/>
              </a:ext>
            </a:extLst>
          </p:cNvPr>
          <p:cNvPicPr>
            <a:picLocks noChangeAspect="1"/>
          </p:cNvPicPr>
          <p:nvPr/>
        </p:nvPicPr>
        <p:blipFill>
          <a:blip r:embed="rId3"/>
          <a:stretch>
            <a:fillRect/>
          </a:stretch>
        </p:blipFill>
        <p:spPr>
          <a:xfrm>
            <a:off x="5924614" y="2362200"/>
            <a:ext cx="6049219" cy="3639058"/>
          </a:xfrm>
          <a:prstGeom prst="rect">
            <a:avLst/>
          </a:prstGeom>
        </p:spPr>
      </p:pic>
      <p:sp>
        <p:nvSpPr>
          <p:cNvPr id="9" name="TextBox 8">
            <a:extLst>
              <a:ext uri="{FF2B5EF4-FFF2-40B4-BE49-F238E27FC236}">
                <a16:creationId xmlns:a16="http://schemas.microsoft.com/office/drawing/2014/main" id="{10211AEF-84D0-1269-6EFF-6585A498172F}"/>
              </a:ext>
            </a:extLst>
          </p:cNvPr>
          <p:cNvSpPr txBox="1"/>
          <p:nvPr/>
        </p:nvSpPr>
        <p:spPr>
          <a:xfrm>
            <a:off x="5829300" y="1950422"/>
            <a:ext cx="914400" cy="369332"/>
          </a:xfrm>
          <a:prstGeom prst="rect">
            <a:avLst/>
          </a:prstGeom>
          <a:noFill/>
        </p:spPr>
        <p:txBody>
          <a:bodyPr wrap="square" rtlCol="0">
            <a:spAutoFit/>
          </a:bodyPr>
          <a:lstStyle/>
          <a:p>
            <a:r>
              <a:rPr lang="en-IN" b="1" dirty="0">
                <a:latin typeface="+mj-lt"/>
              </a:rPr>
              <a:t>Result:</a:t>
            </a:r>
          </a:p>
        </p:txBody>
      </p:sp>
    </p:spTree>
    <p:extLst>
      <p:ext uri="{BB962C8B-B14F-4D97-AF65-F5344CB8AC3E}">
        <p14:creationId xmlns:p14="http://schemas.microsoft.com/office/powerpoint/2010/main" val="55568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42D7F-6465-DD8F-742E-8B5B5E999AF8}"/>
              </a:ext>
            </a:extLst>
          </p:cNvPr>
          <p:cNvSpPr>
            <a:spLocks noGrp="1"/>
          </p:cNvSpPr>
          <p:nvPr>
            <p:ph type="title"/>
          </p:nvPr>
        </p:nvSpPr>
        <p:spPr>
          <a:xfrm>
            <a:off x="281497" y="290587"/>
            <a:ext cx="8630920" cy="677108"/>
          </a:xfrm>
        </p:spPr>
        <p:txBody>
          <a:bodyPr/>
          <a:lstStyle/>
          <a:p>
            <a:r>
              <a:rPr lang="en-IN" dirty="0"/>
              <a:t>4.LEAVE AND ABSENCE PATTERNS</a:t>
            </a:r>
          </a:p>
        </p:txBody>
      </p:sp>
      <p:sp>
        <p:nvSpPr>
          <p:cNvPr id="4" name="Rectangle 3">
            <a:extLst>
              <a:ext uri="{FF2B5EF4-FFF2-40B4-BE49-F238E27FC236}">
                <a16:creationId xmlns:a16="http://schemas.microsoft.com/office/drawing/2014/main" id="{BC27E1DC-6F05-9AA8-1EFC-72413674E619}"/>
              </a:ext>
            </a:extLst>
          </p:cNvPr>
          <p:cNvSpPr/>
          <p:nvPr/>
        </p:nvSpPr>
        <p:spPr>
          <a:xfrm>
            <a:off x="533400" y="967695"/>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a:t>
            </a:r>
            <a:r>
              <a:rPr lang="en-US" b="1" dirty="0">
                <a:solidFill>
                  <a:schemeClr val="tx1"/>
                </a:solidFill>
                <a:latin typeface="+mn-lt"/>
                <a:ea typeface="+mn-ea"/>
                <a:cs typeface="+mn-cs"/>
              </a:rPr>
              <a:t>Which year had the most employees taking leaves?</a:t>
            </a:r>
          </a:p>
        </p:txBody>
      </p:sp>
      <p:sp>
        <p:nvSpPr>
          <p:cNvPr id="6" name="TextBox 5">
            <a:extLst>
              <a:ext uri="{FF2B5EF4-FFF2-40B4-BE49-F238E27FC236}">
                <a16:creationId xmlns:a16="http://schemas.microsoft.com/office/drawing/2014/main" id="{E9BC937B-832E-CA9E-57D5-220A8F36AD8C}"/>
              </a:ext>
            </a:extLst>
          </p:cNvPr>
          <p:cNvSpPr txBox="1"/>
          <p:nvPr/>
        </p:nvSpPr>
        <p:spPr>
          <a:xfrm>
            <a:off x="8285644" y="2514600"/>
            <a:ext cx="914400" cy="369332"/>
          </a:xfrm>
          <a:prstGeom prst="rect">
            <a:avLst/>
          </a:prstGeom>
          <a:noFill/>
        </p:spPr>
        <p:txBody>
          <a:bodyPr wrap="square" rtlCol="0">
            <a:spAutoFit/>
          </a:bodyPr>
          <a:lstStyle/>
          <a:p>
            <a:r>
              <a:rPr lang="en-IN" b="1" dirty="0">
                <a:latin typeface="+mj-lt"/>
              </a:rPr>
              <a:t>Result:</a:t>
            </a:r>
          </a:p>
        </p:txBody>
      </p:sp>
      <p:pic>
        <p:nvPicPr>
          <p:cNvPr id="8" name="Picture 7">
            <a:extLst>
              <a:ext uri="{FF2B5EF4-FFF2-40B4-BE49-F238E27FC236}">
                <a16:creationId xmlns:a16="http://schemas.microsoft.com/office/drawing/2014/main" id="{4CF00F0D-84FA-7D9A-7BEB-CB7C7C96BB77}"/>
              </a:ext>
            </a:extLst>
          </p:cNvPr>
          <p:cNvPicPr>
            <a:picLocks noChangeAspect="1"/>
          </p:cNvPicPr>
          <p:nvPr/>
        </p:nvPicPr>
        <p:blipFill>
          <a:blip r:embed="rId2"/>
          <a:stretch>
            <a:fillRect/>
          </a:stretch>
        </p:blipFill>
        <p:spPr>
          <a:xfrm>
            <a:off x="609600" y="1752601"/>
            <a:ext cx="7696200" cy="3581400"/>
          </a:xfrm>
          <a:prstGeom prst="rect">
            <a:avLst/>
          </a:prstGeom>
        </p:spPr>
      </p:pic>
      <p:pic>
        <p:nvPicPr>
          <p:cNvPr id="10" name="Picture 9">
            <a:extLst>
              <a:ext uri="{FF2B5EF4-FFF2-40B4-BE49-F238E27FC236}">
                <a16:creationId xmlns:a16="http://schemas.microsoft.com/office/drawing/2014/main" id="{E7D23A87-667E-7A24-DA3F-068E3ACF79BD}"/>
              </a:ext>
            </a:extLst>
          </p:cNvPr>
          <p:cNvPicPr>
            <a:picLocks noChangeAspect="1"/>
          </p:cNvPicPr>
          <p:nvPr/>
        </p:nvPicPr>
        <p:blipFill>
          <a:blip r:embed="rId3"/>
          <a:stretch>
            <a:fillRect/>
          </a:stretch>
        </p:blipFill>
        <p:spPr>
          <a:xfrm>
            <a:off x="8285644" y="2966658"/>
            <a:ext cx="3543795" cy="838317"/>
          </a:xfrm>
          <a:prstGeom prst="rect">
            <a:avLst/>
          </a:prstGeom>
        </p:spPr>
      </p:pic>
      <p:sp>
        <p:nvSpPr>
          <p:cNvPr id="12" name="TextBox 11">
            <a:extLst>
              <a:ext uri="{FF2B5EF4-FFF2-40B4-BE49-F238E27FC236}">
                <a16:creationId xmlns:a16="http://schemas.microsoft.com/office/drawing/2014/main" id="{8D8A6945-62E3-E69F-78BC-E412F903B246}"/>
              </a:ext>
            </a:extLst>
          </p:cNvPr>
          <p:cNvSpPr txBox="1"/>
          <p:nvPr/>
        </p:nvSpPr>
        <p:spPr>
          <a:xfrm>
            <a:off x="381000" y="5441799"/>
            <a:ext cx="11125200" cy="369332"/>
          </a:xfrm>
          <a:prstGeom prst="rect">
            <a:avLst/>
          </a:prstGeom>
          <a:noFill/>
        </p:spPr>
        <p:txBody>
          <a:bodyPr wrap="square">
            <a:spAutoFit/>
          </a:bodyPr>
          <a:lstStyle/>
          <a:p>
            <a:pPr marL="285750" indent="-285750">
              <a:buFont typeface="Wingdings" panose="05000000000000000000" pitchFamily="2" charset="2"/>
              <a:buChar char="Ø"/>
            </a:pPr>
            <a:r>
              <a:rPr lang="en-US" dirty="0">
                <a:solidFill>
                  <a:schemeClr val="tx1"/>
                </a:solidFill>
                <a:latin typeface="+mj-lt"/>
              </a:rPr>
              <a:t>The year 2024 recorded the highest number of employee leave entries, with a total of 60 leaves taken.</a:t>
            </a:r>
            <a:endParaRPr lang="en-IN" dirty="0">
              <a:solidFill>
                <a:schemeClr val="tx1"/>
              </a:solidFill>
              <a:latin typeface="+mj-lt"/>
            </a:endParaRPr>
          </a:p>
        </p:txBody>
      </p:sp>
    </p:spTree>
    <p:extLst>
      <p:ext uri="{BB962C8B-B14F-4D97-AF65-F5344CB8AC3E}">
        <p14:creationId xmlns:p14="http://schemas.microsoft.com/office/powerpoint/2010/main" val="3274580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E5F9B73-D7C3-42C9-C160-5CDD21AA038D}"/>
              </a:ext>
            </a:extLst>
          </p:cNvPr>
          <p:cNvSpPr/>
          <p:nvPr/>
        </p:nvSpPr>
        <p:spPr>
          <a:xfrm>
            <a:off x="609600" y="5334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What is the average number of leave days taken by its employees per department?</a:t>
            </a:r>
          </a:p>
        </p:txBody>
      </p:sp>
      <p:sp>
        <p:nvSpPr>
          <p:cNvPr id="5" name="TextBox 4">
            <a:extLst>
              <a:ext uri="{FF2B5EF4-FFF2-40B4-BE49-F238E27FC236}">
                <a16:creationId xmlns:a16="http://schemas.microsoft.com/office/drawing/2014/main" id="{8B8F0594-F301-3DF0-C9B9-6E99FC26BAA9}"/>
              </a:ext>
            </a:extLst>
          </p:cNvPr>
          <p:cNvSpPr txBox="1"/>
          <p:nvPr/>
        </p:nvSpPr>
        <p:spPr>
          <a:xfrm>
            <a:off x="7162800" y="1371600"/>
            <a:ext cx="914400" cy="369332"/>
          </a:xfrm>
          <a:prstGeom prst="rect">
            <a:avLst/>
          </a:prstGeom>
          <a:noFill/>
        </p:spPr>
        <p:txBody>
          <a:bodyPr wrap="square" rtlCol="0">
            <a:spAutoFit/>
          </a:bodyPr>
          <a:lstStyle/>
          <a:p>
            <a:r>
              <a:rPr lang="en-IN" b="1" dirty="0">
                <a:latin typeface="+mj-lt"/>
              </a:rPr>
              <a:t>Result:</a:t>
            </a:r>
          </a:p>
        </p:txBody>
      </p:sp>
      <p:pic>
        <p:nvPicPr>
          <p:cNvPr id="9" name="Picture 8">
            <a:extLst>
              <a:ext uri="{FF2B5EF4-FFF2-40B4-BE49-F238E27FC236}">
                <a16:creationId xmlns:a16="http://schemas.microsoft.com/office/drawing/2014/main" id="{EC6A267F-12C0-4A59-6960-F7E9601B6EF7}"/>
              </a:ext>
            </a:extLst>
          </p:cNvPr>
          <p:cNvPicPr>
            <a:picLocks noChangeAspect="1"/>
          </p:cNvPicPr>
          <p:nvPr/>
        </p:nvPicPr>
        <p:blipFill>
          <a:blip r:embed="rId3"/>
          <a:stretch>
            <a:fillRect/>
          </a:stretch>
        </p:blipFill>
        <p:spPr>
          <a:xfrm>
            <a:off x="7181973" y="1902024"/>
            <a:ext cx="3791479" cy="3057952"/>
          </a:xfrm>
          <a:prstGeom prst="rect">
            <a:avLst/>
          </a:prstGeom>
        </p:spPr>
      </p:pic>
      <p:pic>
        <p:nvPicPr>
          <p:cNvPr id="3" name="Picture 2">
            <a:extLst>
              <a:ext uri="{FF2B5EF4-FFF2-40B4-BE49-F238E27FC236}">
                <a16:creationId xmlns:a16="http://schemas.microsoft.com/office/drawing/2014/main" id="{1C1BFF07-55C1-B3AF-B4FA-48CB9C69307E}"/>
              </a:ext>
            </a:extLst>
          </p:cNvPr>
          <p:cNvPicPr>
            <a:picLocks noChangeAspect="1"/>
          </p:cNvPicPr>
          <p:nvPr/>
        </p:nvPicPr>
        <p:blipFill>
          <a:blip r:embed="rId4"/>
          <a:stretch>
            <a:fillRect/>
          </a:stretch>
        </p:blipFill>
        <p:spPr>
          <a:xfrm>
            <a:off x="685800" y="1229558"/>
            <a:ext cx="5746034" cy="4858204"/>
          </a:xfrm>
          <a:prstGeom prst="rect">
            <a:avLst/>
          </a:prstGeom>
        </p:spPr>
      </p:pic>
    </p:spTree>
    <p:extLst>
      <p:ext uri="{BB962C8B-B14F-4D97-AF65-F5344CB8AC3E}">
        <p14:creationId xmlns:p14="http://schemas.microsoft.com/office/powerpoint/2010/main" val="222053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850E1-B28F-BD9F-82B2-12B83109E6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DDDAEB9-DA2E-23F6-AF56-B74E377B40D5}"/>
              </a:ext>
            </a:extLst>
          </p:cNvPr>
          <p:cNvSpPr/>
          <p:nvPr/>
        </p:nvSpPr>
        <p:spPr>
          <a:xfrm>
            <a:off x="609600" y="6096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Which employees have taken the most leaves?</a:t>
            </a:r>
          </a:p>
        </p:txBody>
      </p:sp>
      <p:sp>
        <p:nvSpPr>
          <p:cNvPr id="3" name="TextBox 2">
            <a:extLst>
              <a:ext uri="{FF2B5EF4-FFF2-40B4-BE49-F238E27FC236}">
                <a16:creationId xmlns:a16="http://schemas.microsoft.com/office/drawing/2014/main" id="{C29C0A82-BB0C-477F-F55C-EA1C703A888B}"/>
              </a:ext>
            </a:extLst>
          </p:cNvPr>
          <p:cNvSpPr txBox="1"/>
          <p:nvPr/>
        </p:nvSpPr>
        <p:spPr>
          <a:xfrm>
            <a:off x="9296400" y="2209800"/>
            <a:ext cx="1143000" cy="369332"/>
          </a:xfrm>
          <a:prstGeom prst="rect">
            <a:avLst/>
          </a:prstGeom>
          <a:noFill/>
        </p:spPr>
        <p:txBody>
          <a:bodyPr wrap="square" rtlCol="0">
            <a:spAutoFit/>
          </a:bodyPr>
          <a:lstStyle/>
          <a:p>
            <a:r>
              <a:rPr lang="en-IN" b="1" dirty="0">
                <a:latin typeface="+mj-lt"/>
              </a:rPr>
              <a:t>Result:</a:t>
            </a:r>
          </a:p>
        </p:txBody>
      </p:sp>
      <p:pic>
        <p:nvPicPr>
          <p:cNvPr id="5" name="Picture 4">
            <a:extLst>
              <a:ext uri="{FF2B5EF4-FFF2-40B4-BE49-F238E27FC236}">
                <a16:creationId xmlns:a16="http://schemas.microsoft.com/office/drawing/2014/main" id="{2CDE800C-D100-3AF9-7D65-D6A12F4BE85C}"/>
              </a:ext>
            </a:extLst>
          </p:cNvPr>
          <p:cNvPicPr>
            <a:picLocks noChangeAspect="1"/>
          </p:cNvPicPr>
          <p:nvPr/>
        </p:nvPicPr>
        <p:blipFill>
          <a:blip r:embed="rId3"/>
          <a:stretch>
            <a:fillRect/>
          </a:stretch>
        </p:blipFill>
        <p:spPr>
          <a:xfrm>
            <a:off x="609600" y="1307127"/>
            <a:ext cx="8534400" cy="4243746"/>
          </a:xfrm>
          <a:prstGeom prst="rect">
            <a:avLst/>
          </a:prstGeom>
        </p:spPr>
      </p:pic>
      <p:pic>
        <p:nvPicPr>
          <p:cNvPr id="7" name="Picture 6">
            <a:extLst>
              <a:ext uri="{FF2B5EF4-FFF2-40B4-BE49-F238E27FC236}">
                <a16:creationId xmlns:a16="http://schemas.microsoft.com/office/drawing/2014/main" id="{8EBFF988-6F96-51C5-D7E6-1C4C3824D4D8}"/>
              </a:ext>
            </a:extLst>
          </p:cNvPr>
          <p:cNvPicPr>
            <a:picLocks noChangeAspect="1"/>
          </p:cNvPicPr>
          <p:nvPr/>
        </p:nvPicPr>
        <p:blipFill>
          <a:blip r:embed="rId4"/>
          <a:stretch>
            <a:fillRect/>
          </a:stretch>
        </p:blipFill>
        <p:spPr>
          <a:xfrm>
            <a:off x="8763000" y="2551280"/>
            <a:ext cx="3124200" cy="3352800"/>
          </a:xfrm>
          <a:prstGeom prst="rect">
            <a:avLst/>
          </a:prstGeom>
        </p:spPr>
      </p:pic>
    </p:spTree>
    <p:extLst>
      <p:ext uri="{BB962C8B-B14F-4D97-AF65-F5344CB8AC3E}">
        <p14:creationId xmlns:p14="http://schemas.microsoft.com/office/powerpoint/2010/main" val="3404246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98CF-4E5B-D881-3984-F5DD29087D7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DF7675-540E-7DAB-547C-0001EA705FD3}"/>
              </a:ext>
            </a:extLst>
          </p:cNvPr>
          <p:cNvSpPr/>
          <p:nvPr/>
        </p:nvSpPr>
        <p:spPr>
          <a:xfrm>
            <a:off x="609600" y="6096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a:t>
            </a:r>
            <a:r>
              <a:rPr lang="en-US" b="1" dirty="0">
                <a:solidFill>
                  <a:schemeClr val="tx1"/>
                </a:solidFill>
                <a:latin typeface="+mn-lt"/>
                <a:ea typeface="+mn-ea"/>
                <a:cs typeface="+mn-cs"/>
              </a:rPr>
              <a:t>What is the total number of leave days taken company-wide?</a:t>
            </a:r>
          </a:p>
        </p:txBody>
      </p:sp>
      <p:sp>
        <p:nvSpPr>
          <p:cNvPr id="3" name="TextBox 2">
            <a:extLst>
              <a:ext uri="{FF2B5EF4-FFF2-40B4-BE49-F238E27FC236}">
                <a16:creationId xmlns:a16="http://schemas.microsoft.com/office/drawing/2014/main" id="{99D6191F-5594-3C25-0412-65126CDAA8DD}"/>
              </a:ext>
            </a:extLst>
          </p:cNvPr>
          <p:cNvSpPr txBox="1"/>
          <p:nvPr/>
        </p:nvSpPr>
        <p:spPr>
          <a:xfrm>
            <a:off x="546100" y="2282088"/>
            <a:ext cx="914400" cy="369332"/>
          </a:xfrm>
          <a:prstGeom prst="rect">
            <a:avLst/>
          </a:prstGeom>
          <a:noFill/>
        </p:spPr>
        <p:txBody>
          <a:bodyPr wrap="square" rtlCol="0">
            <a:spAutoFit/>
          </a:bodyPr>
          <a:lstStyle/>
          <a:p>
            <a:r>
              <a:rPr lang="en-IN" b="1" dirty="0">
                <a:latin typeface="+mj-lt"/>
              </a:rPr>
              <a:t>Result:</a:t>
            </a:r>
          </a:p>
        </p:txBody>
      </p:sp>
      <p:pic>
        <p:nvPicPr>
          <p:cNvPr id="5" name="Picture 4">
            <a:extLst>
              <a:ext uri="{FF2B5EF4-FFF2-40B4-BE49-F238E27FC236}">
                <a16:creationId xmlns:a16="http://schemas.microsoft.com/office/drawing/2014/main" id="{6F5C6722-0EBE-8EC0-3D44-53B71E9506BE}"/>
              </a:ext>
            </a:extLst>
          </p:cNvPr>
          <p:cNvPicPr>
            <a:picLocks noChangeAspect="1"/>
          </p:cNvPicPr>
          <p:nvPr/>
        </p:nvPicPr>
        <p:blipFill>
          <a:blip r:embed="rId2"/>
          <a:stretch>
            <a:fillRect/>
          </a:stretch>
        </p:blipFill>
        <p:spPr>
          <a:xfrm>
            <a:off x="584200" y="1447800"/>
            <a:ext cx="9831172" cy="685896"/>
          </a:xfrm>
          <a:prstGeom prst="rect">
            <a:avLst/>
          </a:prstGeom>
        </p:spPr>
      </p:pic>
      <p:pic>
        <p:nvPicPr>
          <p:cNvPr id="7" name="Picture 6">
            <a:extLst>
              <a:ext uri="{FF2B5EF4-FFF2-40B4-BE49-F238E27FC236}">
                <a16:creationId xmlns:a16="http://schemas.microsoft.com/office/drawing/2014/main" id="{4202515D-B5ED-3D40-0AB8-FA2F3E43D8D1}"/>
              </a:ext>
            </a:extLst>
          </p:cNvPr>
          <p:cNvPicPr>
            <a:picLocks noChangeAspect="1"/>
          </p:cNvPicPr>
          <p:nvPr/>
        </p:nvPicPr>
        <p:blipFill>
          <a:blip r:embed="rId3"/>
          <a:stretch>
            <a:fillRect/>
          </a:stretch>
        </p:blipFill>
        <p:spPr>
          <a:xfrm>
            <a:off x="609600" y="2651420"/>
            <a:ext cx="5334744" cy="781159"/>
          </a:xfrm>
          <a:prstGeom prst="rect">
            <a:avLst/>
          </a:prstGeom>
        </p:spPr>
      </p:pic>
      <p:sp>
        <p:nvSpPr>
          <p:cNvPr id="9" name="TextBox 8">
            <a:extLst>
              <a:ext uri="{FF2B5EF4-FFF2-40B4-BE49-F238E27FC236}">
                <a16:creationId xmlns:a16="http://schemas.microsoft.com/office/drawing/2014/main" id="{C3B082EC-7791-0E5F-D67A-79D6B4AEBCDD}"/>
              </a:ext>
            </a:extLst>
          </p:cNvPr>
          <p:cNvSpPr txBox="1"/>
          <p:nvPr/>
        </p:nvSpPr>
        <p:spPr>
          <a:xfrm>
            <a:off x="546100" y="3765637"/>
            <a:ext cx="7367372"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A total of 60 leave days have been taken across the company.</a:t>
            </a:r>
          </a:p>
        </p:txBody>
      </p:sp>
    </p:spTree>
    <p:extLst>
      <p:ext uri="{BB962C8B-B14F-4D97-AF65-F5344CB8AC3E}">
        <p14:creationId xmlns:p14="http://schemas.microsoft.com/office/powerpoint/2010/main" val="4132406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F1C8E-D79A-0FDD-AD6F-C741638A3E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AAAAF8C-FE45-BAA7-3DC4-32C31B2B566F}"/>
              </a:ext>
            </a:extLst>
          </p:cNvPr>
          <p:cNvSpPr/>
          <p:nvPr/>
        </p:nvSpPr>
        <p:spPr>
          <a:xfrm>
            <a:off x="609600" y="6096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How do leave days correlate with payroll amounts?</a:t>
            </a:r>
          </a:p>
        </p:txBody>
      </p:sp>
      <p:sp>
        <p:nvSpPr>
          <p:cNvPr id="3" name="TextBox 2">
            <a:extLst>
              <a:ext uri="{FF2B5EF4-FFF2-40B4-BE49-F238E27FC236}">
                <a16:creationId xmlns:a16="http://schemas.microsoft.com/office/drawing/2014/main" id="{0AD9E2BD-3A15-FAF7-B394-6E450DAC3769}"/>
              </a:ext>
            </a:extLst>
          </p:cNvPr>
          <p:cNvSpPr txBox="1"/>
          <p:nvPr/>
        </p:nvSpPr>
        <p:spPr>
          <a:xfrm>
            <a:off x="6705600" y="1524000"/>
            <a:ext cx="914400" cy="369332"/>
          </a:xfrm>
          <a:prstGeom prst="rect">
            <a:avLst/>
          </a:prstGeom>
          <a:noFill/>
        </p:spPr>
        <p:txBody>
          <a:bodyPr wrap="square" rtlCol="0">
            <a:spAutoFit/>
          </a:bodyPr>
          <a:lstStyle/>
          <a:p>
            <a:r>
              <a:rPr lang="en-IN" b="1" dirty="0">
                <a:latin typeface="+mj-lt"/>
              </a:rPr>
              <a:t>Result:</a:t>
            </a:r>
          </a:p>
        </p:txBody>
      </p:sp>
      <p:pic>
        <p:nvPicPr>
          <p:cNvPr id="5" name="Picture 4">
            <a:extLst>
              <a:ext uri="{FF2B5EF4-FFF2-40B4-BE49-F238E27FC236}">
                <a16:creationId xmlns:a16="http://schemas.microsoft.com/office/drawing/2014/main" id="{66940ACE-2CF4-6875-0485-A9815FCB5AAD}"/>
              </a:ext>
            </a:extLst>
          </p:cNvPr>
          <p:cNvPicPr>
            <a:picLocks noChangeAspect="1"/>
          </p:cNvPicPr>
          <p:nvPr/>
        </p:nvPicPr>
        <p:blipFill>
          <a:blip r:embed="rId3"/>
          <a:stretch>
            <a:fillRect/>
          </a:stretch>
        </p:blipFill>
        <p:spPr>
          <a:xfrm>
            <a:off x="561118" y="1300440"/>
            <a:ext cx="6144482" cy="5401429"/>
          </a:xfrm>
          <a:prstGeom prst="rect">
            <a:avLst/>
          </a:prstGeom>
        </p:spPr>
      </p:pic>
      <p:pic>
        <p:nvPicPr>
          <p:cNvPr id="7" name="Picture 6">
            <a:extLst>
              <a:ext uri="{FF2B5EF4-FFF2-40B4-BE49-F238E27FC236}">
                <a16:creationId xmlns:a16="http://schemas.microsoft.com/office/drawing/2014/main" id="{DD01CEED-0FAA-96C2-5E50-41FE42B4C578}"/>
              </a:ext>
            </a:extLst>
          </p:cNvPr>
          <p:cNvPicPr>
            <a:picLocks noChangeAspect="1"/>
          </p:cNvPicPr>
          <p:nvPr/>
        </p:nvPicPr>
        <p:blipFill>
          <a:blip r:embed="rId4"/>
          <a:stretch>
            <a:fillRect/>
          </a:stretch>
        </p:blipFill>
        <p:spPr>
          <a:xfrm>
            <a:off x="6705600" y="1991098"/>
            <a:ext cx="4038600" cy="4020111"/>
          </a:xfrm>
          <a:prstGeom prst="rect">
            <a:avLst/>
          </a:prstGeom>
        </p:spPr>
      </p:pic>
    </p:spTree>
    <p:extLst>
      <p:ext uri="{BB962C8B-B14F-4D97-AF65-F5344CB8AC3E}">
        <p14:creationId xmlns:p14="http://schemas.microsoft.com/office/powerpoint/2010/main" val="2764105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EF158-D170-810F-A9B7-F8B976E337D0}"/>
              </a:ext>
            </a:extLst>
          </p:cNvPr>
          <p:cNvSpPr>
            <a:spLocks noGrp="1"/>
          </p:cNvSpPr>
          <p:nvPr>
            <p:ph type="title"/>
          </p:nvPr>
        </p:nvSpPr>
        <p:spPr>
          <a:xfrm>
            <a:off x="281496" y="290587"/>
            <a:ext cx="10386503" cy="2031325"/>
          </a:xfrm>
        </p:spPr>
        <p:txBody>
          <a:bodyPr/>
          <a:lstStyle/>
          <a:p>
            <a:pPr rtl="0"/>
            <a:r>
              <a:rPr lang="en-IN" dirty="0"/>
              <a:t>PAYROLL AND COMPENSATION ANALYSIS</a:t>
            </a:r>
            <a:br>
              <a:rPr lang="en-IN" dirty="0"/>
            </a:br>
            <a:endParaRPr lang="en-IN" dirty="0"/>
          </a:p>
        </p:txBody>
      </p:sp>
      <p:sp>
        <p:nvSpPr>
          <p:cNvPr id="4" name="Rectangle 3">
            <a:extLst>
              <a:ext uri="{FF2B5EF4-FFF2-40B4-BE49-F238E27FC236}">
                <a16:creationId xmlns:a16="http://schemas.microsoft.com/office/drawing/2014/main" id="{ADA820F5-34B6-749F-A5B9-8028DE8883F8}"/>
              </a:ext>
            </a:extLst>
          </p:cNvPr>
          <p:cNvSpPr/>
          <p:nvPr/>
        </p:nvSpPr>
        <p:spPr>
          <a:xfrm>
            <a:off x="457200" y="967695"/>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What is the total monthly payroll processed?</a:t>
            </a:r>
          </a:p>
        </p:txBody>
      </p:sp>
      <p:sp>
        <p:nvSpPr>
          <p:cNvPr id="5" name="TextBox 4">
            <a:extLst>
              <a:ext uri="{FF2B5EF4-FFF2-40B4-BE49-F238E27FC236}">
                <a16:creationId xmlns:a16="http://schemas.microsoft.com/office/drawing/2014/main" id="{9104AB54-D15C-9286-BCE8-ADBABDB115FB}"/>
              </a:ext>
            </a:extLst>
          </p:cNvPr>
          <p:cNvSpPr txBox="1"/>
          <p:nvPr/>
        </p:nvSpPr>
        <p:spPr>
          <a:xfrm>
            <a:off x="6920273" y="1681364"/>
            <a:ext cx="914400" cy="369332"/>
          </a:xfrm>
          <a:prstGeom prst="rect">
            <a:avLst/>
          </a:prstGeom>
          <a:noFill/>
        </p:spPr>
        <p:txBody>
          <a:bodyPr wrap="square" rtlCol="0">
            <a:spAutoFit/>
          </a:bodyPr>
          <a:lstStyle/>
          <a:p>
            <a:r>
              <a:rPr lang="en-IN" b="1" dirty="0">
                <a:latin typeface="+mj-lt"/>
              </a:rPr>
              <a:t>Result:</a:t>
            </a:r>
          </a:p>
        </p:txBody>
      </p:sp>
      <p:pic>
        <p:nvPicPr>
          <p:cNvPr id="7" name="Picture 6">
            <a:extLst>
              <a:ext uri="{FF2B5EF4-FFF2-40B4-BE49-F238E27FC236}">
                <a16:creationId xmlns:a16="http://schemas.microsoft.com/office/drawing/2014/main" id="{4DB4A3AB-45CD-A5F8-4B84-757C590A91DB}"/>
              </a:ext>
            </a:extLst>
          </p:cNvPr>
          <p:cNvPicPr>
            <a:picLocks noChangeAspect="1"/>
          </p:cNvPicPr>
          <p:nvPr/>
        </p:nvPicPr>
        <p:blipFill>
          <a:blip r:embed="rId2"/>
          <a:stretch>
            <a:fillRect/>
          </a:stretch>
        </p:blipFill>
        <p:spPr>
          <a:xfrm>
            <a:off x="482600" y="1668664"/>
            <a:ext cx="6230219" cy="2867425"/>
          </a:xfrm>
          <a:prstGeom prst="rect">
            <a:avLst/>
          </a:prstGeom>
        </p:spPr>
      </p:pic>
      <p:pic>
        <p:nvPicPr>
          <p:cNvPr id="9" name="Picture 8">
            <a:extLst>
              <a:ext uri="{FF2B5EF4-FFF2-40B4-BE49-F238E27FC236}">
                <a16:creationId xmlns:a16="http://schemas.microsoft.com/office/drawing/2014/main" id="{D26A9BCF-8A3A-514D-5889-0EEE18DE6CCB}"/>
              </a:ext>
            </a:extLst>
          </p:cNvPr>
          <p:cNvPicPr>
            <a:picLocks noChangeAspect="1"/>
          </p:cNvPicPr>
          <p:nvPr/>
        </p:nvPicPr>
        <p:blipFill>
          <a:blip r:embed="rId3"/>
          <a:stretch>
            <a:fillRect/>
          </a:stretch>
        </p:blipFill>
        <p:spPr>
          <a:xfrm>
            <a:off x="7010400" y="2050696"/>
            <a:ext cx="4267200" cy="1047896"/>
          </a:xfrm>
          <a:prstGeom prst="rect">
            <a:avLst/>
          </a:prstGeom>
        </p:spPr>
      </p:pic>
      <p:sp>
        <p:nvSpPr>
          <p:cNvPr id="11" name="TextBox 10">
            <a:extLst>
              <a:ext uri="{FF2B5EF4-FFF2-40B4-BE49-F238E27FC236}">
                <a16:creationId xmlns:a16="http://schemas.microsoft.com/office/drawing/2014/main" id="{D07182BC-A489-A460-0337-ABDAAB734E65}"/>
              </a:ext>
            </a:extLst>
          </p:cNvPr>
          <p:cNvSpPr txBox="1"/>
          <p:nvPr/>
        </p:nvSpPr>
        <p:spPr>
          <a:xfrm>
            <a:off x="482600" y="4648200"/>
            <a:ext cx="9423400"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In April 2024, the total payroll processed by the company amounted to 2,778,000</a:t>
            </a:r>
            <a:r>
              <a:rPr lang="en-US" dirty="0"/>
              <a:t>.</a:t>
            </a:r>
            <a:endParaRPr lang="en-IN" dirty="0"/>
          </a:p>
        </p:txBody>
      </p:sp>
    </p:spTree>
    <p:extLst>
      <p:ext uri="{BB962C8B-B14F-4D97-AF65-F5344CB8AC3E}">
        <p14:creationId xmlns:p14="http://schemas.microsoft.com/office/powerpoint/2010/main" val="20145596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1626A-F1BF-12CB-4ADB-6DD7CA7B2DE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E3962DC-AEFF-0D03-8889-4C60E10FE8BE}"/>
              </a:ext>
            </a:extLst>
          </p:cNvPr>
          <p:cNvSpPr/>
          <p:nvPr/>
        </p:nvSpPr>
        <p:spPr>
          <a:xfrm>
            <a:off x="609600" y="6096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What is the average bonus given per department?</a:t>
            </a:r>
          </a:p>
        </p:txBody>
      </p:sp>
      <p:sp>
        <p:nvSpPr>
          <p:cNvPr id="3" name="TextBox 2">
            <a:extLst>
              <a:ext uri="{FF2B5EF4-FFF2-40B4-BE49-F238E27FC236}">
                <a16:creationId xmlns:a16="http://schemas.microsoft.com/office/drawing/2014/main" id="{712799E9-CBF7-A73F-953B-AE1B26EED32B}"/>
              </a:ext>
            </a:extLst>
          </p:cNvPr>
          <p:cNvSpPr txBox="1"/>
          <p:nvPr/>
        </p:nvSpPr>
        <p:spPr>
          <a:xfrm>
            <a:off x="9067800" y="2059116"/>
            <a:ext cx="914400" cy="369332"/>
          </a:xfrm>
          <a:prstGeom prst="rect">
            <a:avLst/>
          </a:prstGeom>
          <a:noFill/>
        </p:spPr>
        <p:txBody>
          <a:bodyPr wrap="square" rtlCol="0">
            <a:spAutoFit/>
          </a:bodyPr>
          <a:lstStyle/>
          <a:p>
            <a:r>
              <a:rPr lang="en-IN" b="1" dirty="0">
                <a:latin typeface="+mj-lt"/>
              </a:rPr>
              <a:t>Result:</a:t>
            </a:r>
          </a:p>
        </p:txBody>
      </p:sp>
      <p:pic>
        <p:nvPicPr>
          <p:cNvPr id="5" name="Picture 4">
            <a:extLst>
              <a:ext uri="{FF2B5EF4-FFF2-40B4-BE49-F238E27FC236}">
                <a16:creationId xmlns:a16="http://schemas.microsoft.com/office/drawing/2014/main" id="{BBE2C9D8-B6D7-16F8-BE16-B06E27A73609}"/>
              </a:ext>
            </a:extLst>
          </p:cNvPr>
          <p:cNvPicPr>
            <a:picLocks noChangeAspect="1"/>
          </p:cNvPicPr>
          <p:nvPr/>
        </p:nvPicPr>
        <p:blipFill>
          <a:blip r:embed="rId2"/>
          <a:stretch>
            <a:fillRect/>
          </a:stretch>
        </p:blipFill>
        <p:spPr>
          <a:xfrm>
            <a:off x="609600" y="1447800"/>
            <a:ext cx="7935432" cy="2467319"/>
          </a:xfrm>
          <a:prstGeom prst="rect">
            <a:avLst/>
          </a:prstGeom>
        </p:spPr>
      </p:pic>
      <p:pic>
        <p:nvPicPr>
          <p:cNvPr id="7" name="Picture 6">
            <a:extLst>
              <a:ext uri="{FF2B5EF4-FFF2-40B4-BE49-F238E27FC236}">
                <a16:creationId xmlns:a16="http://schemas.microsoft.com/office/drawing/2014/main" id="{1047DD52-1AB3-DCB9-D77F-72F4A1F08645}"/>
              </a:ext>
            </a:extLst>
          </p:cNvPr>
          <p:cNvPicPr>
            <a:picLocks noChangeAspect="1"/>
          </p:cNvPicPr>
          <p:nvPr/>
        </p:nvPicPr>
        <p:blipFill>
          <a:blip r:embed="rId3"/>
          <a:stretch>
            <a:fillRect/>
          </a:stretch>
        </p:blipFill>
        <p:spPr>
          <a:xfrm>
            <a:off x="7467600" y="2428448"/>
            <a:ext cx="3734321" cy="3057952"/>
          </a:xfrm>
          <a:prstGeom prst="rect">
            <a:avLst/>
          </a:prstGeom>
        </p:spPr>
      </p:pic>
    </p:spTree>
    <p:extLst>
      <p:ext uri="{BB962C8B-B14F-4D97-AF65-F5344CB8AC3E}">
        <p14:creationId xmlns:p14="http://schemas.microsoft.com/office/powerpoint/2010/main" val="13185696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1CE87-A61D-EE5F-E265-E3BCB42DA7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6B15F7-6061-CA90-082A-004B56648F60}"/>
              </a:ext>
            </a:extLst>
          </p:cNvPr>
          <p:cNvSpPr/>
          <p:nvPr/>
        </p:nvSpPr>
        <p:spPr>
          <a:xfrm>
            <a:off x="609600" y="6096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	Which department receives the highest total bonuses?</a:t>
            </a:r>
          </a:p>
        </p:txBody>
      </p:sp>
      <p:sp>
        <p:nvSpPr>
          <p:cNvPr id="3" name="TextBox 2">
            <a:extLst>
              <a:ext uri="{FF2B5EF4-FFF2-40B4-BE49-F238E27FC236}">
                <a16:creationId xmlns:a16="http://schemas.microsoft.com/office/drawing/2014/main" id="{07B16851-CE86-73DC-C939-DB851505EB72}"/>
              </a:ext>
            </a:extLst>
          </p:cNvPr>
          <p:cNvSpPr txBox="1"/>
          <p:nvPr/>
        </p:nvSpPr>
        <p:spPr>
          <a:xfrm>
            <a:off x="5638800" y="1447800"/>
            <a:ext cx="914400" cy="369332"/>
          </a:xfrm>
          <a:prstGeom prst="rect">
            <a:avLst/>
          </a:prstGeom>
          <a:noFill/>
        </p:spPr>
        <p:txBody>
          <a:bodyPr wrap="square" rtlCol="0">
            <a:spAutoFit/>
          </a:bodyPr>
          <a:lstStyle/>
          <a:p>
            <a:r>
              <a:rPr lang="en-IN" b="1" dirty="0">
                <a:latin typeface="+mj-lt"/>
              </a:rPr>
              <a:t>Result:</a:t>
            </a:r>
          </a:p>
        </p:txBody>
      </p:sp>
      <p:pic>
        <p:nvPicPr>
          <p:cNvPr id="5" name="Picture 4">
            <a:extLst>
              <a:ext uri="{FF2B5EF4-FFF2-40B4-BE49-F238E27FC236}">
                <a16:creationId xmlns:a16="http://schemas.microsoft.com/office/drawing/2014/main" id="{EE709AFD-52B4-8586-57F2-40DF4FD6D01A}"/>
              </a:ext>
            </a:extLst>
          </p:cNvPr>
          <p:cNvPicPr>
            <a:picLocks noChangeAspect="1"/>
          </p:cNvPicPr>
          <p:nvPr/>
        </p:nvPicPr>
        <p:blipFill>
          <a:blip r:embed="rId2"/>
          <a:stretch>
            <a:fillRect/>
          </a:stretch>
        </p:blipFill>
        <p:spPr>
          <a:xfrm>
            <a:off x="762000" y="1447800"/>
            <a:ext cx="4876799" cy="4006757"/>
          </a:xfrm>
          <a:prstGeom prst="rect">
            <a:avLst/>
          </a:prstGeom>
        </p:spPr>
      </p:pic>
      <p:pic>
        <p:nvPicPr>
          <p:cNvPr id="7" name="Picture 6">
            <a:extLst>
              <a:ext uri="{FF2B5EF4-FFF2-40B4-BE49-F238E27FC236}">
                <a16:creationId xmlns:a16="http://schemas.microsoft.com/office/drawing/2014/main" id="{F57BE468-A6D1-550A-0170-2351607D12D9}"/>
              </a:ext>
            </a:extLst>
          </p:cNvPr>
          <p:cNvPicPr>
            <a:picLocks noChangeAspect="1"/>
          </p:cNvPicPr>
          <p:nvPr/>
        </p:nvPicPr>
        <p:blipFill>
          <a:blip r:embed="rId3"/>
          <a:stretch>
            <a:fillRect/>
          </a:stretch>
        </p:blipFill>
        <p:spPr>
          <a:xfrm>
            <a:off x="6553200" y="1524000"/>
            <a:ext cx="2876951" cy="724001"/>
          </a:xfrm>
          <a:prstGeom prst="rect">
            <a:avLst/>
          </a:prstGeom>
        </p:spPr>
      </p:pic>
      <p:sp>
        <p:nvSpPr>
          <p:cNvPr id="9" name="TextBox 8">
            <a:extLst>
              <a:ext uri="{FF2B5EF4-FFF2-40B4-BE49-F238E27FC236}">
                <a16:creationId xmlns:a16="http://schemas.microsoft.com/office/drawing/2014/main" id="{A3C9E559-0A16-B41F-1A61-1096C4AD9EA2}"/>
              </a:ext>
            </a:extLst>
          </p:cNvPr>
          <p:cNvSpPr txBox="1"/>
          <p:nvPr/>
        </p:nvSpPr>
        <p:spPr>
          <a:xfrm>
            <a:off x="495300" y="5530757"/>
            <a:ext cx="10668000"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The Finance department receives the highest total bonuses, with a total bonus allocation of 96,000</a:t>
            </a:r>
            <a:r>
              <a:rPr lang="en-US" dirty="0"/>
              <a:t>.</a:t>
            </a:r>
            <a:endParaRPr lang="en-IN" dirty="0"/>
          </a:p>
        </p:txBody>
      </p:sp>
    </p:spTree>
    <p:extLst>
      <p:ext uri="{BB962C8B-B14F-4D97-AF65-F5344CB8AC3E}">
        <p14:creationId xmlns:p14="http://schemas.microsoft.com/office/powerpoint/2010/main" val="2123888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5EA46-3A5E-8445-4B71-C64320A0B84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A1C333E-BC0F-96B0-67F4-F29EC53A4C78}"/>
              </a:ext>
            </a:extLst>
          </p:cNvPr>
          <p:cNvSpPr/>
          <p:nvPr/>
        </p:nvSpPr>
        <p:spPr>
          <a:xfrm>
            <a:off x="609600" y="609600"/>
            <a:ext cx="10439400" cy="677108"/>
          </a:xfrm>
          <a:prstGeom prst="rect">
            <a:avLst/>
          </a:prstGeom>
          <a:gradFill flip="none" rotWithShape="1">
            <a:gsLst>
              <a:gs pos="44955">
                <a:srgbClr val="5A99D3"/>
              </a:gs>
              <a:gs pos="55500">
                <a:srgbClr val="3D85C6"/>
              </a:gs>
              <a:gs pos="37000">
                <a:srgbClr val="6FA8DC"/>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fontAlgn="base"/>
            <a:r>
              <a:rPr lang="en-US" sz="1800" dirty="0">
                <a:solidFill>
                  <a:schemeClr val="lt1"/>
                </a:solidFill>
                <a:latin typeface="+mn-lt"/>
                <a:ea typeface="+mn-ea"/>
                <a:cs typeface="+mn-cs"/>
              </a:rPr>
              <a:t>		</a:t>
            </a:r>
            <a:r>
              <a:rPr lang="en-US" sz="1800" b="1" dirty="0">
                <a:solidFill>
                  <a:schemeClr val="tx1"/>
                </a:solidFill>
                <a:latin typeface="+mn-lt"/>
                <a:ea typeface="+mn-ea"/>
                <a:cs typeface="+mn-cs"/>
              </a:rPr>
              <a:t>What is the average value of total amount after considering leave deductions?</a:t>
            </a:r>
          </a:p>
        </p:txBody>
      </p:sp>
      <p:sp>
        <p:nvSpPr>
          <p:cNvPr id="3" name="TextBox 2">
            <a:extLst>
              <a:ext uri="{FF2B5EF4-FFF2-40B4-BE49-F238E27FC236}">
                <a16:creationId xmlns:a16="http://schemas.microsoft.com/office/drawing/2014/main" id="{71D2B06A-A3CC-F977-E99D-0FEE07EEFB84}"/>
              </a:ext>
            </a:extLst>
          </p:cNvPr>
          <p:cNvSpPr txBox="1"/>
          <p:nvPr/>
        </p:nvSpPr>
        <p:spPr>
          <a:xfrm>
            <a:off x="609600" y="2313354"/>
            <a:ext cx="914400" cy="369332"/>
          </a:xfrm>
          <a:prstGeom prst="rect">
            <a:avLst/>
          </a:prstGeom>
          <a:noFill/>
        </p:spPr>
        <p:txBody>
          <a:bodyPr wrap="square" rtlCol="0">
            <a:spAutoFit/>
          </a:bodyPr>
          <a:lstStyle/>
          <a:p>
            <a:r>
              <a:rPr lang="en-IN" b="1" dirty="0">
                <a:latin typeface="+mj-lt"/>
              </a:rPr>
              <a:t>Result:</a:t>
            </a:r>
          </a:p>
        </p:txBody>
      </p:sp>
      <p:pic>
        <p:nvPicPr>
          <p:cNvPr id="5" name="Picture 4">
            <a:extLst>
              <a:ext uri="{FF2B5EF4-FFF2-40B4-BE49-F238E27FC236}">
                <a16:creationId xmlns:a16="http://schemas.microsoft.com/office/drawing/2014/main" id="{B305DA8E-0D48-8084-079E-D6FE013E6C0E}"/>
              </a:ext>
            </a:extLst>
          </p:cNvPr>
          <p:cNvPicPr>
            <a:picLocks noChangeAspect="1"/>
          </p:cNvPicPr>
          <p:nvPr/>
        </p:nvPicPr>
        <p:blipFill>
          <a:blip r:embed="rId2"/>
          <a:stretch>
            <a:fillRect/>
          </a:stretch>
        </p:blipFill>
        <p:spPr>
          <a:xfrm>
            <a:off x="609600" y="1286708"/>
            <a:ext cx="9459645" cy="1028844"/>
          </a:xfrm>
          <a:prstGeom prst="rect">
            <a:avLst/>
          </a:prstGeom>
        </p:spPr>
      </p:pic>
      <p:pic>
        <p:nvPicPr>
          <p:cNvPr id="7" name="Picture 6">
            <a:extLst>
              <a:ext uri="{FF2B5EF4-FFF2-40B4-BE49-F238E27FC236}">
                <a16:creationId xmlns:a16="http://schemas.microsoft.com/office/drawing/2014/main" id="{96D0E8AA-68C3-F8F7-908A-A9ECEA87B156}"/>
              </a:ext>
            </a:extLst>
          </p:cNvPr>
          <p:cNvPicPr>
            <a:picLocks noChangeAspect="1"/>
          </p:cNvPicPr>
          <p:nvPr/>
        </p:nvPicPr>
        <p:blipFill>
          <a:blip r:embed="rId3"/>
          <a:stretch>
            <a:fillRect/>
          </a:stretch>
        </p:blipFill>
        <p:spPr>
          <a:xfrm>
            <a:off x="685800" y="2743200"/>
            <a:ext cx="5249008" cy="790685"/>
          </a:xfrm>
          <a:prstGeom prst="rect">
            <a:avLst/>
          </a:prstGeom>
        </p:spPr>
      </p:pic>
      <p:sp>
        <p:nvSpPr>
          <p:cNvPr id="9" name="TextBox 8">
            <a:extLst>
              <a:ext uri="{FF2B5EF4-FFF2-40B4-BE49-F238E27FC236}">
                <a16:creationId xmlns:a16="http://schemas.microsoft.com/office/drawing/2014/main" id="{8B9B570F-B58E-CB87-A49F-057F320E0912}"/>
              </a:ext>
            </a:extLst>
          </p:cNvPr>
          <p:cNvSpPr txBox="1"/>
          <p:nvPr/>
        </p:nvSpPr>
        <p:spPr>
          <a:xfrm>
            <a:off x="381000" y="3810000"/>
            <a:ext cx="11125200"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mj-lt"/>
              </a:rPr>
              <a:t>After accounting for leave deductions, the average total payroll amount per employee is 46,300.</a:t>
            </a:r>
          </a:p>
        </p:txBody>
      </p:sp>
    </p:spTree>
    <p:extLst>
      <p:ext uri="{BB962C8B-B14F-4D97-AF65-F5344CB8AC3E}">
        <p14:creationId xmlns:p14="http://schemas.microsoft.com/office/powerpoint/2010/main" val="14197361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419C1-BE06-16F2-A9F4-0F26F648B733}"/>
              </a:ext>
            </a:extLst>
          </p:cNvPr>
          <p:cNvSpPr>
            <a:spLocks noGrp="1"/>
          </p:cNvSpPr>
          <p:nvPr>
            <p:ph type="title"/>
          </p:nvPr>
        </p:nvSpPr>
        <p:spPr>
          <a:xfrm>
            <a:off x="281496" y="290587"/>
            <a:ext cx="10538903" cy="2031325"/>
          </a:xfrm>
        </p:spPr>
        <p:txBody>
          <a:bodyPr/>
          <a:lstStyle/>
          <a:p>
            <a:r>
              <a:rPr lang="en-US" dirty="0"/>
              <a:t>Final</a:t>
            </a:r>
            <a:r>
              <a:rPr lang="en-US" spc="-75" dirty="0"/>
              <a:t> </a:t>
            </a:r>
            <a:r>
              <a:rPr lang="en-US" dirty="0"/>
              <a:t>business</a:t>
            </a:r>
            <a:r>
              <a:rPr lang="en-US" spc="-70" dirty="0"/>
              <a:t> </a:t>
            </a:r>
            <a:r>
              <a:rPr lang="en-US" dirty="0"/>
              <a:t>insights</a:t>
            </a:r>
            <a:r>
              <a:rPr lang="en-US" spc="-70" dirty="0"/>
              <a:t> </a:t>
            </a:r>
            <a:r>
              <a:rPr lang="en-US" dirty="0"/>
              <a:t>and</a:t>
            </a:r>
            <a:r>
              <a:rPr lang="en-US" spc="-70" dirty="0"/>
              <a:t> </a:t>
            </a:r>
            <a:r>
              <a:rPr lang="en-US" spc="-10" dirty="0"/>
              <a:t>recommendations</a:t>
            </a:r>
            <a:br>
              <a:rPr lang="en-US" spc="-10" dirty="0"/>
            </a:br>
            <a:endParaRPr lang="en-IN" dirty="0"/>
          </a:p>
        </p:txBody>
      </p:sp>
      <p:sp>
        <p:nvSpPr>
          <p:cNvPr id="5" name="TextBox 4">
            <a:extLst>
              <a:ext uri="{FF2B5EF4-FFF2-40B4-BE49-F238E27FC236}">
                <a16:creationId xmlns:a16="http://schemas.microsoft.com/office/drawing/2014/main" id="{43F7D6D9-4C98-1DE5-07DC-4CE0B3B65231}"/>
              </a:ext>
            </a:extLst>
          </p:cNvPr>
          <p:cNvSpPr txBox="1"/>
          <p:nvPr/>
        </p:nvSpPr>
        <p:spPr>
          <a:xfrm>
            <a:off x="281496" y="1066800"/>
            <a:ext cx="10820400" cy="4247317"/>
          </a:xfrm>
          <a:prstGeom prst="rect">
            <a:avLst/>
          </a:prstGeom>
          <a:noFill/>
        </p:spPr>
        <p:txBody>
          <a:bodyPr wrap="square">
            <a:spAutoFit/>
          </a:bodyPr>
          <a:lstStyle/>
          <a:p>
            <a:pPr>
              <a:buNone/>
            </a:pPr>
            <a:r>
              <a:rPr lang="en-US" b="1" dirty="0">
                <a:latin typeface="+mj-lt"/>
              </a:rPr>
              <a:t>Key Business Insights</a:t>
            </a:r>
          </a:p>
          <a:p>
            <a:pPr marL="285750" indent="-285750">
              <a:buFont typeface="Wingdings" panose="05000000000000000000" pitchFamily="2" charset="2"/>
              <a:buChar char="Ø"/>
            </a:pPr>
            <a:r>
              <a:rPr lang="en-US" dirty="0">
                <a:latin typeface="+mj-lt"/>
              </a:rPr>
              <a:t>The organization has 60 employees, with Finance and IT being the largest departments.</a:t>
            </a:r>
          </a:p>
          <a:p>
            <a:pPr marL="285750" indent="-285750">
              <a:buFont typeface="Wingdings" panose="05000000000000000000" pitchFamily="2" charset="2"/>
              <a:buChar char="Ø"/>
            </a:pPr>
            <a:r>
              <a:rPr lang="en-US" dirty="0">
                <a:latin typeface="+mj-lt"/>
              </a:rPr>
              <a:t>Finance department has the highest salary and bonus allocation, making it the most cost-intensive unit.</a:t>
            </a:r>
          </a:p>
          <a:p>
            <a:pPr marL="285750" indent="-285750">
              <a:buFont typeface="Wingdings" panose="05000000000000000000" pitchFamily="2" charset="2"/>
              <a:buChar char="Ø"/>
            </a:pPr>
            <a:r>
              <a:rPr lang="en-US" dirty="0">
                <a:latin typeface="+mj-lt"/>
              </a:rPr>
              <a:t>Legal and Engineering roles receive the highest average salaries, reflecting specialized skills.</a:t>
            </a:r>
          </a:p>
          <a:p>
            <a:pPr marL="285750" indent="-285750">
              <a:buFont typeface="Wingdings" panose="05000000000000000000" pitchFamily="2" charset="2"/>
              <a:buChar char="Ø"/>
            </a:pPr>
            <a:r>
              <a:rPr lang="en-US" dirty="0">
                <a:latin typeface="+mj-lt"/>
              </a:rPr>
              <a:t>100% of employees have at least one qualification, indicating a well-skilled workforce.</a:t>
            </a:r>
          </a:p>
          <a:p>
            <a:pPr marL="285750" indent="-285750">
              <a:buFont typeface="Wingdings" panose="05000000000000000000" pitchFamily="2" charset="2"/>
              <a:buChar char="Ø"/>
            </a:pPr>
            <a:r>
              <a:rPr lang="en-US" dirty="0">
                <a:latin typeface="+mj-lt"/>
              </a:rPr>
              <a:t>2024 recorded the highest leave usage, with leave deductions properly reflected in payroll.</a:t>
            </a:r>
          </a:p>
          <a:p>
            <a:pPr marL="285750" indent="-285750">
              <a:buFont typeface="Wingdings" panose="05000000000000000000" pitchFamily="2" charset="2"/>
              <a:buChar char="Ø"/>
            </a:pPr>
            <a:r>
              <a:rPr lang="en-US" dirty="0">
                <a:latin typeface="+mj-lt"/>
              </a:rPr>
              <a:t>Total monthly payroll processed is ₹2,778,000, showing a significant operational expense.</a:t>
            </a:r>
          </a:p>
          <a:p>
            <a:pPr>
              <a:buNone/>
            </a:pPr>
            <a:endParaRPr lang="en-US" b="1" dirty="0">
              <a:latin typeface="+mj-lt"/>
            </a:endParaRPr>
          </a:p>
          <a:p>
            <a:pPr>
              <a:buNone/>
            </a:pPr>
            <a:r>
              <a:rPr lang="en-US" b="1" dirty="0">
                <a:latin typeface="+mj-lt"/>
              </a:rPr>
              <a:t> Business Recommendations</a:t>
            </a:r>
          </a:p>
          <a:p>
            <a:pPr marL="285750" indent="-285750">
              <a:buFont typeface="Wingdings" panose="05000000000000000000" pitchFamily="2" charset="2"/>
              <a:buChar char="Ø"/>
            </a:pPr>
            <a:r>
              <a:rPr lang="en-US" dirty="0">
                <a:latin typeface="+mj-lt"/>
              </a:rPr>
              <a:t>Regularly review high-cost departments (especially Finance) to ensure cost vs performance balance.</a:t>
            </a:r>
          </a:p>
          <a:p>
            <a:pPr marL="285750" indent="-285750">
              <a:buFont typeface="Wingdings" panose="05000000000000000000" pitchFamily="2" charset="2"/>
              <a:buChar char="Ø"/>
            </a:pPr>
            <a:r>
              <a:rPr lang="en-US" dirty="0">
                <a:latin typeface="+mj-lt"/>
              </a:rPr>
              <a:t>Improve workforce distribution and workload management in Finance and IT departments.</a:t>
            </a:r>
          </a:p>
          <a:p>
            <a:pPr marL="285750" indent="-285750">
              <a:buFont typeface="Wingdings" panose="05000000000000000000" pitchFamily="2" charset="2"/>
              <a:buChar char="Ø"/>
            </a:pPr>
            <a:r>
              <a:rPr lang="en-US" dirty="0">
                <a:latin typeface="+mj-lt"/>
              </a:rPr>
              <a:t>Introduce skill-based incentives and performance tracking to justify salary variations.</a:t>
            </a:r>
          </a:p>
          <a:p>
            <a:pPr marL="285750" indent="-285750">
              <a:buFont typeface="Wingdings" panose="05000000000000000000" pitchFamily="2" charset="2"/>
              <a:buChar char="Ø"/>
            </a:pPr>
            <a:r>
              <a:rPr lang="en-US" dirty="0">
                <a:latin typeface="+mj-lt"/>
              </a:rPr>
              <a:t>Monitor leave trends to prevent productivity loss and employee burnout.</a:t>
            </a:r>
          </a:p>
          <a:p>
            <a:pPr marL="285750" indent="-285750">
              <a:buFont typeface="Wingdings" panose="05000000000000000000" pitchFamily="2" charset="2"/>
              <a:buChar char="Ø"/>
            </a:pPr>
            <a:r>
              <a:rPr lang="en-US" dirty="0">
                <a:latin typeface="+mj-lt"/>
              </a:rPr>
              <a:t>Extend the </a:t>
            </a:r>
            <a:r>
              <a:rPr lang="en-IN" dirty="0">
                <a:latin typeface="+mj-lt"/>
              </a:rPr>
              <a:t>Employee Management System</a:t>
            </a:r>
            <a:r>
              <a:rPr lang="en-US" dirty="0">
                <a:latin typeface="+mj-lt"/>
              </a:rPr>
              <a:t> to support performance evaluation, forecasting, and strategic HR decisions.</a:t>
            </a:r>
          </a:p>
        </p:txBody>
      </p:sp>
    </p:spTree>
    <p:extLst>
      <p:ext uri="{BB962C8B-B14F-4D97-AF65-F5344CB8AC3E}">
        <p14:creationId xmlns:p14="http://schemas.microsoft.com/office/powerpoint/2010/main" val="23923897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52A5-2412-1B22-B72C-BAA51A760B84}"/>
              </a:ext>
            </a:extLst>
          </p:cNvPr>
          <p:cNvSpPr>
            <a:spLocks noGrp="1"/>
          </p:cNvSpPr>
          <p:nvPr>
            <p:ph type="title"/>
          </p:nvPr>
        </p:nvSpPr>
        <p:spPr/>
        <p:txBody>
          <a:bodyPr/>
          <a:lstStyle/>
          <a:p>
            <a:r>
              <a:rPr lang="en-IN" dirty="0"/>
              <a:t>Conclusion</a:t>
            </a:r>
          </a:p>
        </p:txBody>
      </p:sp>
      <p:sp>
        <p:nvSpPr>
          <p:cNvPr id="7" name="TextBox 6">
            <a:extLst>
              <a:ext uri="{FF2B5EF4-FFF2-40B4-BE49-F238E27FC236}">
                <a16:creationId xmlns:a16="http://schemas.microsoft.com/office/drawing/2014/main" id="{09BE219F-7306-BDB2-EE60-05DE7DCED266}"/>
              </a:ext>
            </a:extLst>
          </p:cNvPr>
          <p:cNvSpPr txBox="1"/>
          <p:nvPr/>
        </p:nvSpPr>
        <p:spPr>
          <a:xfrm>
            <a:off x="228600" y="1143000"/>
            <a:ext cx="7543800" cy="3970318"/>
          </a:xfrm>
          <a:prstGeom prst="rect">
            <a:avLst/>
          </a:prstGeom>
          <a:noFill/>
        </p:spPr>
        <p:txBody>
          <a:bodyPr wrap="square">
            <a:spAutoFit/>
          </a:bodyPr>
          <a:lstStyle/>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Successfully designed and implemented an Employee Management System (EMS) using a relational database.</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Integrated employee, department, salary, qualification, leave, and payroll data with proper relationships.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Ensured data accuracy, consistency, and integrity using foreign keys and constraints.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Performed SQL-based analysis to extract meaningful HR and payroll insights.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Identified key trends in workforce distribution, compensation, and leave patterns.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Demonstrated how data supports efficient HR operations and decision-making.</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The system is scalable and can be enhanced with performance tracking and predictive analytics.</a:t>
            </a:r>
          </a:p>
        </p:txBody>
      </p:sp>
      <p:pic>
        <p:nvPicPr>
          <p:cNvPr id="9" name="Picture 8">
            <a:extLst>
              <a:ext uri="{FF2B5EF4-FFF2-40B4-BE49-F238E27FC236}">
                <a16:creationId xmlns:a16="http://schemas.microsoft.com/office/drawing/2014/main" id="{6D3CFA43-EBB4-B89B-CC93-0637340FA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9162" y="1451759"/>
            <a:ext cx="3894238" cy="3352800"/>
          </a:xfrm>
          <a:prstGeom prst="rect">
            <a:avLst/>
          </a:prstGeom>
        </p:spPr>
      </p:pic>
    </p:spTree>
    <p:extLst>
      <p:ext uri="{BB962C8B-B14F-4D97-AF65-F5344CB8AC3E}">
        <p14:creationId xmlns:p14="http://schemas.microsoft.com/office/powerpoint/2010/main" val="36601306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A4BEA-BFE0-E850-81B1-389B40AC3387}"/>
              </a:ext>
            </a:extLst>
          </p:cNvPr>
          <p:cNvSpPr>
            <a:spLocks noGrp="1"/>
          </p:cNvSpPr>
          <p:nvPr>
            <p:ph type="title"/>
          </p:nvPr>
        </p:nvSpPr>
        <p:spPr/>
        <p:txBody>
          <a:bodyPr/>
          <a:lstStyle/>
          <a:p>
            <a:r>
              <a:rPr lang="en-IN" spc="-20" dirty="0"/>
              <a:t>Challenges</a:t>
            </a:r>
            <a:endParaRPr lang="en-IN" dirty="0"/>
          </a:p>
        </p:txBody>
      </p:sp>
      <p:sp>
        <p:nvSpPr>
          <p:cNvPr id="6" name="TextBox 5">
            <a:extLst>
              <a:ext uri="{FF2B5EF4-FFF2-40B4-BE49-F238E27FC236}">
                <a16:creationId xmlns:a16="http://schemas.microsoft.com/office/drawing/2014/main" id="{79F7A7E4-39A9-D521-52F5-BB0E8DC6B539}"/>
              </a:ext>
            </a:extLst>
          </p:cNvPr>
          <p:cNvSpPr txBox="1"/>
          <p:nvPr/>
        </p:nvSpPr>
        <p:spPr>
          <a:xfrm>
            <a:off x="285701" y="1598521"/>
            <a:ext cx="7414703" cy="3416320"/>
          </a:xfrm>
          <a:prstGeom prst="rect">
            <a:avLst/>
          </a:prstGeom>
          <a:noFill/>
        </p:spPr>
        <p:txBody>
          <a:bodyPr wrap="square">
            <a:spAutoFit/>
          </a:bodyPr>
          <a:lstStyle/>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Designing a proper database schema and identifying correct relationships between tables.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Implementing foreign key constraints without causing dependency and reference errors.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Handling data consistency issues while linking employee, payroll, and leave records.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Writing complex SQL queries involving multiple joins, grouping, and subqueries.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Ensuring accurate payroll calculations after considering leave deductions.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Interpreting SQL results and converting them into meaningful business insights.</a:t>
            </a:r>
          </a:p>
          <a:p>
            <a:pPr marL="285750" marR="0" lvl="0" indent="-285750" algn="just" defTabSz="914400" rtl="0" eaLnBrk="0" fontAlgn="base" latinLnBrk="0" hangingPunct="0">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mj-lt"/>
              </a:rPr>
              <a:t>Debugging errors related to table names, joins, and MySQL limitations.</a:t>
            </a:r>
          </a:p>
        </p:txBody>
      </p:sp>
      <p:pic>
        <p:nvPicPr>
          <p:cNvPr id="4" name="Picture 3">
            <a:extLst>
              <a:ext uri="{FF2B5EF4-FFF2-40B4-BE49-F238E27FC236}">
                <a16:creationId xmlns:a16="http://schemas.microsoft.com/office/drawing/2014/main" id="{0F1BAEA1-D0CC-A7FF-2A8E-79064E84A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8600" y="762000"/>
            <a:ext cx="4114800" cy="3938558"/>
          </a:xfrm>
          <a:prstGeom prst="rect">
            <a:avLst/>
          </a:prstGeom>
        </p:spPr>
      </p:pic>
    </p:spTree>
    <p:extLst>
      <p:ext uri="{BB962C8B-B14F-4D97-AF65-F5344CB8AC3E}">
        <p14:creationId xmlns:p14="http://schemas.microsoft.com/office/powerpoint/2010/main" val="24488324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44695F-6747-948C-5D1F-C6BA08119C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248400"/>
          </a:xfrm>
          <a:prstGeom prst="rect">
            <a:avLst/>
          </a:prstGeom>
          <a:effectLst>
            <a:outerShdw blurRad="50800" dist="50800" dir="5400000" algn="ctr" rotWithShape="0">
              <a:srgbClr val="000000">
                <a:alpha val="0"/>
              </a:srgbClr>
            </a:outerShdw>
          </a:effectLst>
        </p:spPr>
      </p:pic>
    </p:spTree>
    <p:extLst>
      <p:ext uri="{BB962C8B-B14F-4D97-AF65-F5344CB8AC3E}">
        <p14:creationId xmlns:p14="http://schemas.microsoft.com/office/powerpoint/2010/main" val="1150460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317625" y="3000247"/>
            <a:ext cx="2362200" cy="1366520"/>
          </a:xfrm>
          <a:prstGeom prst="rect">
            <a:avLst/>
          </a:prstGeom>
        </p:spPr>
        <p:txBody>
          <a:bodyPr vert="horz" wrap="square" lIns="0" tIns="12700" rIns="0" bIns="0" rtlCol="0">
            <a:spAutoFit/>
          </a:bodyPr>
          <a:lstStyle/>
          <a:p>
            <a:pPr marL="12700" marR="5080">
              <a:lnSpc>
                <a:spcPct val="100000"/>
              </a:lnSpc>
              <a:spcBef>
                <a:spcPts val="100"/>
              </a:spcBef>
            </a:pPr>
            <a:r>
              <a:rPr b="0" spc="320" dirty="0">
                <a:solidFill>
                  <a:srgbClr val="C00000"/>
                </a:solidFill>
                <a:latin typeface="Palatino Linotype"/>
                <a:cs typeface="Palatino Linotype"/>
              </a:rPr>
              <a:t>THANK </a:t>
            </a:r>
            <a:r>
              <a:rPr b="0" spc="330" dirty="0">
                <a:solidFill>
                  <a:srgbClr val="C00000"/>
                </a:solidFill>
                <a:latin typeface="Palatino Linotype"/>
                <a:cs typeface="Palatino Linotype"/>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572</TotalTime>
  <Words>1635</Words>
  <Application>Microsoft Office PowerPoint</Application>
  <PresentationFormat>Widescreen</PresentationFormat>
  <Paragraphs>155</Paragraphs>
  <Slides>35</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Montserrat Semi-Bold</vt:lpstr>
      <vt:lpstr>Palatino Linotype</vt:lpstr>
      <vt:lpstr>Tahoma</vt:lpstr>
      <vt:lpstr>Wingdings</vt:lpstr>
      <vt:lpstr>Office Theme</vt:lpstr>
      <vt:lpstr>PowerPoint Presentation</vt:lpstr>
      <vt:lpstr>About me</vt:lpstr>
      <vt:lpstr>Agenda (This should be the PPT flow)</vt:lpstr>
      <vt:lpstr>PowerPoint Presentation</vt:lpstr>
      <vt:lpstr>Objective of the Project </vt:lpstr>
      <vt:lpstr>Database Schema Overview</vt:lpstr>
      <vt:lpstr>Database Schema Overview</vt:lpstr>
      <vt:lpstr>ER Diagram</vt:lpstr>
      <vt:lpstr>Schema Explanation</vt:lpstr>
      <vt:lpstr>1. EMPLOYEE INSIGHTS</vt:lpstr>
      <vt:lpstr>PowerPoint Presentation</vt:lpstr>
      <vt:lpstr>PowerPoint Presentation</vt:lpstr>
      <vt:lpstr>PowerPoint Presentation</vt:lpstr>
      <vt:lpstr>PowerPoint Presentation</vt:lpstr>
      <vt:lpstr>JOB ROLE AND DEPARTMENT ANALYSIS</vt:lpstr>
      <vt:lpstr>PowerPoint Presentation</vt:lpstr>
      <vt:lpstr>PowerPoint Presentation</vt:lpstr>
      <vt:lpstr>PowerPoint Presentation</vt:lpstr>
      <vt:lpstr>3. QUALIFICATION AND SKILLS ANALYSIS</vt:lpstr>
      <vt:lpstr>PowerPoint Presentation</vt:lpstr>
      <vt:lpstr>PowerPoint Presentation</vt:lpstr>
      <vt:lpstr>4.LEAVE AND ABSENCE PATTERNS</vt:lpstr>
      <vt:lpstr>PowerPoint Presentation</vt:lpstr>
      <vt:lpstr>PowerPoint Presentation</vt:lpstr>
      <vt:lpstr>PowerPoint Presentation</vt:lpstr>
      <vt:lpstr>PowerPoint Presentation</vt:lpstr>
      <vt:lpstr>PAYROLL AND COMPENSATION ANALYSIS </vt:lpstr>
      <vt:lpstr>PowerPoint Presentation</vt:lpstr>
      <vt:lpstr>PowerPoint Presentation</vt:lpstr>
      <vt:lpstr>PowerPoint Presentation</vt:lpstr>
      <vt:lpstr>Final business insights and recommendations </vt:lpstr>
      <vt:lpstr>Conclusion</vt:lpstr>
      <vt:lpstr>Challenges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Innomatics_Project_Report_Template with SQL_Project_Student_Template.pptx</dc:title>
  <cp:lastModifiedBy>masireddy vamshidhar reddy</cp:lastModifiedBy>
  <cp:revision>10</cp:revision>
  <dcterms:created xsi:type="dcterms:W3CDTF">2025-12-18T12:17:18Z</dcterms:created>
  <dcterms:modified xsi:type="dcterms:W3CDTF">2025-12-19T17:33:44Z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2025-12-18T00:00:00Z</vt:filetime>
  </property>
  <property fmtid="{D5CDD505-2E9C-101B-9397-08002B2CF9AE}" pid="3" name="Creator">
    <vt:lpwstr>Google</vt:lpwstr>
  </property>
  <property fmtid="{D5CDD505-2E9C-101B-9397-08002B2CF9AE}" pid="4" name="LastSaved">
    <vt:filetime>2025-12-18T00:00:00Z</vt:filetime>
  </property>
</Properties>
</file>